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98cf3a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e98cf3a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9123b8d42_0_0:notes"/>
          <p:cNvSpPr/>
          <p:nvPr>
            <p:ph idx="2" type="sldImg"/>
          </p:nvPr>
        </p:nvSpPr>
        <p:spPr>
          <a:xfrm>
            <a:off x="1109000" y="1633061"/>
            <a:ext cx="4640100" cy="440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9123b8d42_0_0:notes"/>
          <p:cNvSpPr txBox="1"/>
          <p:nvPr>
            <p:ph idx="1" type="body"/>
          </p:nvPr>
        </p:nvSpPr>
        <p:spPr>
          <a:xfrm>
            <a:off x="685800" y="6287286"/>
            <a:ext cx="5486400" cy="5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d9123b8d42_0_0:notes"/>
          <p:cNvSpPr txBox="1"/>
          <p:nvPr>
            <p:ph idx="12" type="sldNum"/>
          </p:nvPr>
        </p:nvSpPr>
        <p:spPr>
          <a:xfrm>
            <a:off x="3884613" y="12408998"/>
            <a:ext cx="2971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9123b8d42_0_234:notes"/>
          <p:cNvSpPr txBox="1"/>
          <p:nvPr>
            <p:ph idx="1" type="body"/>
          </p:nvPr>
        </p:nvSpPr>
        <p:spPr>
          <a:xfrm>
            <a:off x="685800" y="6287286"/>
            <a:ext cx="5486400" cy="5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g3d9123b8d42_0_234:notes"/>
          <p:cNvSpPr/>
          <p:nvPr>
            <p:ph idx="2" type="sldImg"/>
          </p:nvPr>
        </p:nvSpPr>
        <p:spPr>
          <a:xfrm>
            <a:off x="1109000" y="1633061"/>
            <a:ext cx="4640100" cy="440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7114500" cy="275700"/>
          </a:xfrm>
          <a:prstGeom prst="rect">
            <a:avLst/>
          </a:prstGeom>
          <a:solidFill>
            <a:srgbClr val="0F2C5C"/>
          </a:solidFill>
          <a:ln cap="flat" cmpd="sng" w="952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11969" y="0"/>
            <a:ext cx="6906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ko" sz="9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서비스 간 API 호출 · 이벤트 · 데이터 흐름도  (DMZ망 / Private VPC망 구분)  ─  TO-BE (API Gateway 적용)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32095" y="275706"/>
            <a:ext cx="7050300" cy="1719600"/>
          </a:xfrm>
          <a:prstGeom prst="rect">
            <a:avLst/>
          </a:prstGeom>
          <a:solidFill>
            <a:srgbClr val="E3F1EB"/>
          </a:solidFill>
          <a:ln cap="flat" cmpd="sng" w="1817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9895" y="1995386"/>
            <a:ext cx="7050300" cy="2935200"/>
          </a:xfrm>
          <a:prstGeom prst="rect">
            <a:avLst/>
          </a:prstGeom>
          <a:solidFill>
            <a:srgbClr val="FAF0EC"/>
          </a:solidFill>
          <a:ln cap="flat" cmpd="sng" w="181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32095" y="275706"/>
            <a:ext cx="438600" cy="1719600"/>
          </a:xfrm>
          <a:prstGeom prst="rect">
            <a:avLst/>
          </a:prstGeom>
          <a:solidFill>
            <a:srgbClr val="0A6A50"/>
          </a:solidFill>
          <a:ln cap="flat" cmpd="sng" w="952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2095" y="275706"/>
            <a:ext cx="4386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2095" y="1995323"/>
            <a:ext cx="438600" cy="29352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2095" y="1995323"/>
            <a:ext cx="4386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172.20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92131" y="276111"/>
            <a:ext cx="32094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DMZ — 인터넷 / 클라이언트 레이어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92131" y="982342"/>
            <a:ext cx="53226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A50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0A6A50"/>
                </a:solidFill>
                <a:latin typeface="Calibri"/>
                <a:ea typeface="Calibri"/>
                <a:cs typeface="Calibri"/>
                <a:sym typeface="Calibri"/>
              </a:rPr>
              <a:t>DMZ VPC — 192.168.0.0/24  (외부 접근 가능, 클라이언트 / WAS / Kafka / MGMT)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166751" y="3526080"/>
            <a:ext cx="40623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Private VPC — 172.20.0.0/24  (내부 전용, Notification / Auth API / 서비스 API / DB / 배치)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492130" y="380480"/>
            <a:ext cx="813091" cy="372988"/>
            <a:chOff x="841248" y="547200"/>
            <a:chExt cx="1389900" cy="420600"/>
          </a:xfrm>
        </p:grpSpPr>
        <p:sp>
          <p:nvSpPr>
            <p:cNvPr id="67" name="Google Shape;67;p14"/>
            <p:cNvSpPr/>
            <p:nvPr/>
          </p:nvSpPr>
          <p:spPr>
            <a:xfrm>
              <a:off x="841248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841248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492131" y="380437"/>
            <a:ext cx="813091" cy="372882"/>
            <a:chOff x="1891048" y="430588"/>
            <a:chExt cx="1389900" cy="420480"/>
          </a:xfrm>
        </p:grpSpPr>
        <p:sp>
          <p:nvSpPr>
            <p:cNvPr id="70" name="Google Shape;70;p14"/>
            <p:cNvSpPr/>
            <p:nvPr/>
          </p:nvSpPr>
          <p:spPr>
            <a:xfrm>
              <a:off x="1891048" y="430588"/>
              <a:ext cx="13899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alibri"/>
                <a:buNone/>
              </a:pPr>
              <a:r>
                <a:rPr b="1" i="0" lang="ko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🖥️ POS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1891048" y="613468"/>
              <a:ext cx="1389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58A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1558A8"/>
                  </a:solidFill>
                  <a:latin typeface="Calibri"/>
                  <a:ea typeface="Calibri"/>
                  <a:cs typeface="Calibri"/>
                  <a:sym typeface="Calibri"/>
                </a:rPr>
                <a:t>WinForms C#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1453218" y="380436"/>
            <a:ext cx="813091" cy="372988"/>
            <a:chOff x="2484120" y="547200"/>
            <a:chExt cx="1389900" cy="420600"/>
          </a:xfrm>
        </p:grpSpPr>
        <p:sp>
          <p:nvSpPr>
            <p:cNvPr id="73" name="Google Shape;73;p14"/>
            <p:cNvSpPr/>
            <p:nvPr/>
          </p:nvSpPr>
          <p:spPr>
            <a:xfrm>
              <a:off x="2484120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484120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453217" y="380437"/>
            <a:ext cx="813092" cy="372882"/>
            <a:chOff x="2874207" y="492025"/>
            <a:chExt cx="1389900" cy="420480"/>
          </a:xfrm>
        </p:grpSpPr>
        <p:sp>
          <p:nvSpPr>
            <p:cNvPr id="76" name="Google Shape;76;p14"/>
            <p:cNvSpPr/>
            <p:nvPr/>
          </p:nvSpPr>
          <p:spPr>
            <a:xfrm>
              <a:off x="2874207" y="492025"/>
              <a:ext cx="13899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alibri"/>
                <a:buNone/>
              </a:pPr>
              <a:r>
                <a:rPr b="1" i="0" lang="ko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🌐 J-Salon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2874207" y="674905"/>
              <a:ext cx="1389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58A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1558A8"/>
                  </a:solidFill>
                  <a:latin typeface="Calibri"/>
                  <a:ea typeface="Calibri"/>
                  <a:cs typeface="Calibri"/>
                  <a:sym typeface="Calibri"/>
                </a:rPr>
                <a:t>Vue + Pinia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2414298" y="380436"/>
            <a:ext cx="813092" cy="372988"/>
            <a:chOff x="4126992" y="547200"/>
            <a:chExt cx="1389900" cy="420600"/>
          </a:xfrm>
        </p:grpSpPr>
        <p:sp>
          <p:nvSpPr>
            <p:cNvPr id="79" name="Google Shape;79;p14"/>
            <p:cNvSpPr/>
            <p:nvPr/>
          </p:nvSpPr>
          <p:spPr>
            <a:xfrm>
              <a:off x="4126992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126992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4"/>
          <p:cNvSpPr/>
          <p:nvPr/>
        </p:nvSpPr>
        <p:spPr>
          <a:xfrm>
            <a:off x="2414290" y="380508"/>
            <a:ext cx="813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J-Works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2414290" y="542688"/>
            <a:ext cx="813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Vue + Pinia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>
            <a:off x="3375372" y="380425"/>
            <a:ext cx="813092" cy="372988"/>
            <a:chOff x="5769864" y="547200"/>
            <a:chExt cx="1389900" cy="420600"/>
          </a:xfrm>
        </p:grpSpPr>
        <p:sp>
          <p:nvSpPr>
            <p:cNvPr id="84" name="Google Shape;84;p14"/>
            <p:cNvSpPr/>
            <p:nvPr/>
          </p:nvSpPr>
          <p:spPr>
            <a:xfrm>
              <a:off x="5769864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769864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4"/>
          <p:cNvSpPr/>
          <p:nvPr/>
        </p:nvSpPr>
        <p:spPr>
          <a:xfrm>
            <a:off x="3375370" y="376950"/>
            <a:ext cx="813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디자이너앱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3375370" y="539130"/>
            <a:ext cx="813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4"/>
          <p:cNvGrpSpPr/>
          <p:nvPr/>
        </p:nvGrpSpPr>
        <p:grpSpPr>
          <a:xfrm>
            <a:off x="4332892" y="380480"/>
            <a:ext cx="813092" cy="372988"/>
            <a:chOff x="7412736" y="547200"/>
            <a:chExt cx="1389900" cy="420600"/>
          </a:xfrm>
        </p:grpSpPr>
        <p:sp>
          <p:nvSpPr>
            <p:cNvPr id="89" name="Google Shape;89;p14"/>
            <p:cNvSpPr/>
            <p:nvPr/>
          </p:nvSpPr>
          <p:spPr>
            <a:xfrm>
              <a:off x="7412736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7412736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952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4"/>
          <p:cNvSpPr/>
          <p:nvPr/>
        </p:nvSpPr>
        <p:spPr>
          <a:xfrm>
            <a:off x="4336457" y="380552"/>
            <a:ext cx="813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고객앱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336457" y="542732"/>
            <a:ext cx="813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5295749" y="380425"/>
            <a:ext cx="813092" cy="372988"/>
            <a:chOff x="9055608" y="547200"/>
            <a:chExt cx="1389900" cy="420600"/>
          </a:xfrm>
        </p:grpSpPr>
        <p:sp>
          <p:nvSpPr>
            <p:cNvPr id="94" name="Google Shape;94;p14"/>
            <p:cNvSpPr/>
            <p:nvPr/>
          </p:nvSpPr>
          <p:spPr>
            <a:xfrm>
              <a:off x="9055608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FEF0C8"/>
            </a:solidFill>
            <a:ln cap="flat" cmpd="sng" w="9525">
              <a:solidFill>
                <a:srgbClr val="A060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9055608" y="547200"/>
              <a:ext cx="1389900" cy="183000"/>
            </a:xfrm>
            <a:prstGeom prst="rect">
              <a:avLst/>
            </a:prstGeom>
            <a:solidFill>
              <a:srgbClr val="A06010"/>
            </a:solidFill>
            <a:ln cap="flat" cmpd="sng" w="9525">
              <a:solidFill>
                <a:srgbClr val="A060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4"/>
          <p:cNvSpPr/>
          <p:nvPr/>
        </p:nvSpPr>
        <p:spPr>
          <a:xfrm>
            <a:off x="5297537" y="380530"/>
            <a:ext cx="813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Homepage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297537" y="542710"/>
            <a:ext cx="813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Java/JSP ⚠️보안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258610" y="485263"/>
            <a:ext cx="813300" cy="372900"/>
          </a:xfrm>
          <a:prstGeom prst="roundRect">
            <a:avLst>
              <a:gd fmla="val 13043" name="adj"/>
            </a:avLst>
          </a:prstGeom>
          <a:solidFill>
            <a:srgbClr val="EBEBEB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58610" y="485263"/>
            <a:ext cx="813300" cy="1623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58610" y="485263"/>
            <a:ext cx="813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JUNO Academy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258610" y="647442"/>
            <a:ext cx="8133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완전 독립 서비스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92149" y="2323176"/>
            <a:ext cx="21396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Auth / Core API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92130" y="2527409"/>
            <a:ext cx="12300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92130" y="2527409"/>
            <a:ext cx="1230000" cy="162300"/>
          </a:xfrm>
          <a:prstGeom prst="rect">
            <a:avLst/>
          </a:prstGeom>
          <a:solidFill>
            <a:srgbClr val="534AB7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92130" y="2527409"/>
            <a:ext cx="1230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통합 Login-API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92130" y="2689589"/>
            <a:ext cx="1230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JWT 발급·검증 | Vault(JWT Key)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802693" y="2527409"/>
            <a:ext cx="10698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802693" y="2527409"/>
            <a:ext cx="1069800" cy="162300"/>
          </a:xfrm>
          <a:prstGeom prst="rect">
            <a:avLst/>
          </a:prstGeom>
          <a:solidFill>
            <a:srgbClr val="534AB7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802693" y="2527409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Permission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802693" y="2689589"/>
            <a:ext cx="1069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신규개발 | Login-API 연동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2963512" y="2570700"/>
            <a:ext cx="649800" cy="3726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2952979" y="2682950"/>
            <a:ext cx="649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고객 DB | Login-API 검증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841370" y="2527409"/>
            <a:ext cx="1230000" cy="454200"/>
          </a:xfrm>
          <a:prstGeom prst="roundRect">
            <a:avLst>
              <a:gd fmla="val 10714" name="adj"/>
            </a:avLst>
          </a:prstGeom>
          <a:solidFill>
            <a:srgbClr val="EBEBEB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841370" y="2527409"/>
            <a:ext cx="1230000" cy="1623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841370" y="2527409"/>
            <a:ext cx="1230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Vault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841370" y="2689589"/>
            <a:ext cx="1230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Secret 중앙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492130" y="2956016"/>
            <a:ext cx="26745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서비스 API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92130" y="3068364"/>
            <a:ext cx="8343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492130" y="3068364"/>
            <a:ext cx="8343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92130" y="3068364"/>
            <a:ext cx="834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92130" y="3230544"/>
            <a:ext cx="834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예약·오더·결제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1449644" y="3068364"/>
            <a:ext cx="8343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449644" y="3068364"/>
            <a:ext cx="8343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449644" y="3068364"/>
            <a:ext cx="834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1449630" y="3222380"/>
            <a:ext cx="834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고객 정보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2407158" y="3068364"/>
            <a:ext cx="8343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2407158" y="3068364"/>
            <a:ext cx="8343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2407158" y="3068364"/>
            <a:ext cx="834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2392884" y="3220124"/>
            <a:ext cx="834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인사·급여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14"/>
          <p:cNvGrpSpPr/>
          <p:nvPr/>
        </p:nvGrpSpPr>
        <p:grpSpPr>
          <a:xfrm>
            <a:off x="4184679" y="2525476"/>
            <a:ext cx="479484" cy="405297"/>
            <a:chOff x="4313682" y="3068364"/>
            <a:chExt cx="1069800" cy="470400"/>
          </a:xfrm>
        </p:grpSpPr>
        <p:sp>
          <p:nvSpPr>
            <p:cNvPr id="131" name="Google Shape;131;p14"/>
            <p:cNvSpPr/>
            <p:nvPr/>
          </p:nvSpPr>
          <p:spPr>
            <a:xfrm>
              <a:off x="4313682" y="3068364"/>
              <a:ext cx="1069800" cy="470400"/>
            </a:xfrm>
            <a:prstGeom prst="roundRect">
              <a:avLst>
                <a:gd fmla="val 10345" name="adj"/>
              </a:avLst>
            </a:prstGeom>
            <a:solidFill>
              <a:srgbClr val="D5EFE6"/>
            </a:solidFill>
            <a:ln cap="flat" cmpd="sng" w="952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13682" y="3211378"/>
              <a:ext cx="1069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QR 체크인 전용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14"/>
          <p:cNvSpPr/>
          <p:nvPr/>
        </p:nvSpPr>
        <p:spPr>
          <a:xfrm>
            <a:off x="4184581" y="2511475"/>
            <a:ext cx="4707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84590" y="2514038"/>
            <a:ext cx="4794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CheckIn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4"/>
          <p:cNvGrpSpPr/>
          <p:nvPr/>
        </p:nvGrpSpPr>
        <p:grpSpPr>
          <a:xfrm>
            <a:off x="4906139" y="2040153"/>
            <a:ext cx="448139" cy="339864"/>
            <a:chOff x="5541264" y="3068364"/>
            <a:chExt cx="1069800" cy="470400"/>
          </a:xfrm>
        </p:grpSpPr>
        <p:sp>
          <p:nvSpPr>
            <p:cNvPr id="136" name="Google Shape;136;p14"/>
            <p:cNvSpPr/>
            <p:nvPr/>
          </p:nvSpPr>
          <p:spPr>
            <a:xfrm>
              <a:off x="5541264" y="3068364"/>
              <a:ext cx="1069800" cy="470400"/>
            </a:xfrm>
            <a:prstGeom prst="roundRect">
              <a:avLst>
                <a:gd fmla="val 10345" name="adj"/>
              </a:avLst>
            </a:prstGeom>
            <a:solidFill>
              <a:srgbClr val="D5EFE6"/>
            </a:solidFill>
            <a:ln cap="flat" cmpd="sng" w="952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5541264" y="3230544"/>
              <a:ext cx="1069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게시판 백엔드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4"/>
          <p:cNvSpPr/>
          <p:nvPr/>
        </p:nvSpPr>
        <p:spPr>
          <a:xfrm>
            <a:off x="4910778" y="2040075"/>
            <a:ext cx="4386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4910782" y="2040088"/>
            <a:ext cx="438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Board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5279699" y="3068364"/>
            <a:ext cx="8343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5279699" y="3068364"/>
            <a:ext cx="8343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5279699" y="3068364"/>
            <a:ext cx="834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Report 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279699" y="3230544"/>
            <a:ext cx="834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OZ Report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237213" y="906221"/>
            <a:ext cx="8343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6237213" y="903505"/>
            <a:ext cx="8343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237213" y="903505"/>
            <a:ext cx="834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 배치서버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6220058" y="1068401"/>
            <a:ext cx="834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BAT-01 WEB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14"/>
          <p:cNvGrpSpPr/>
          <p:nvPr/>
        </p:nvGrpSpPr>
        <p:grpSpPr>
          <a:xfrm>
            <a:off x="5401035" y="2164000"/>
            <a:ext cx="570697" cy="194700"/>
            <a:chOff x="7467046" y="2221166"/>
            <a:chExt cx="1599039" cy="194700"/>
          </a:xfrm>
        </p:grpSpPr>
        <p:sp>
          <p:nvSpPr>
            <p:cNvPr id="149" name="Google Shape;149;p14"/>
            <p:cNvSpPr/>
            <p:nvPr/>
          </p:nvSpPr>
          <p:spPr>
            <a:xfrm>
              <a:off x="7467046" y="2221166"/>
              <a:ext cx="1577100" cy="194700"/>
            </a:xfrm>
            <a:prstGeom prst="roundRect">
              <a:avLst>
                <a:gd fmla="val 25000" name="adj"/>
              </a:avLst>
            </a:prstGeom>
            <a:solidFill>
              <a:srgbClr val="D5EFE6"/>
            </a:solidFill>
            <a:ln cap="flat" cmpd="sng" w="952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7488985" y="2293769"/>
              <a:ext cx="15771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Kafka Consumer → Push/SMS/카카오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4"/>
          <p:cNvSpPr/>
          <p:nvPr/>
        </p:nvSpPr>
        <p:spPr>
          <a:xfrm>
            <a:off x="5401251" y="2040088"/>
            <a:ext cx="570600" cy="162300"/>
          </a:xfrm>
          <a:prstGeom prst="rect">
            <a:avLst/>
          </a:prstGeom>
          <a:solidFill>
            <a:srgbClr val="0A6040"/>
          </a:solidFill>
          <a:ln cap="flat" cmpd="sng" w="952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5401246" y="2015938"/>
            <a:ext cx="554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Noti API_Server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1597986" y="1108979"/>
            <a:ext cx="3851700" cy="275700"/>
          </a:xfrm>
          <a:prstGeom prst="roundRect">
            <a:avLst>
              <a:gd fmla="val 15000" name="adj"/>
            </a:avLst>
          </a:prstGeom>
          <a:solidFill>
            <a:srgbClr val="FEF0C8"/>
          </a:solidFill>
          <a:ln cap="flat" cmpd="sng" w="1212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1597986" y="1126026"/>
            <a:ext cx="3851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900"/>
              <a:buFont typeface="Calibri"/>
              <a:buNone/>
            </a:pPr>
            <a:r>
              <a:rPr b="1" i="0" lang="ko" sz="738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⚡  Kafka  —  예약 · 결제 · 체크인 이벤트 브로커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92146" y="1386475"/>
            <a:ext cx="12300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MGMT / 보안 관리 서버 (DMZ)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4"/>
          <p:cNvGrpSpPr/>
          <p:nvPr/>
        </p:nvGrpSpPr>
        <p:grpSpPr>
          <a:xfrm>
            <a:off x="3659207" y="2577187"/>
            <a:ext cx="479558" cy="356349"/>
            <a:chOff x="630936" y="1421450"/>
            <a:chExt cx="1621225" cy="440917"/>
          </a:xfrm>
        </p:grpSpPr>
        <p:sp>
          <p:nvSpPr>
            <p:cNvPr id="157" name="Google Shape;157;p14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952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4"/>
          <p:cNvSpPr/>
          <p:nvPr/>
        </p:nvSpPr>
        <p:spPr>
          <a:xfrm>
            <a:off x="1820881" y="1424487"/>
            <a:ext cx="12645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1820881" y="1424487"/>
            <a:ext cx="12645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1820881" y="1424487"/>
            <a:ext cx="126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MOTR 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1820881" y="1586667"/>
            <a:ext cx="1264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 HDD20GB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3149632" y="1424487"/>
            <a:ext cx="12645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3149632" y="1424487"/>
            <a:ext cx="12645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149632" y="1424487"/>
            <a:ext cx="126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시스템 접근제어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(HIWARE)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149632" y="1586667"/>
            <a:ext cx="1264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1000GB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4478384" y="1424487"/>
            <a:ext cx="12645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4478384" y="1424487"/>
            <a:ext cx="12645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478384" y="1424487"/>
            <a:ext cx="126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백업관리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(Acronis)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478384" y="1586667"/>
            <a:ext cx="1264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20/100GB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807135" y="1424487"/>
            <a:ext cx="12645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807135" y="1424487"/>
            <a:ext cx="12645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5807135" y="1424487"/>
            <a:ext cx="126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DB암호화관리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(Petra)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807135" y="1586667"/>
            <a:ext cx="1264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600GB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4611044" y="1846155"/>
            <a:ext cx="24072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─── DMZ / Private VPC 경계 ───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492130" y="3512613"/>
            <a:ext cx="26745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DB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492130" y="3662527"/>
            <a:ext cx="7329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492130" y="3662527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492130" y="3662527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492130" y="3824707"/>
            <a:ext cx="732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M/S HA구성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2162628" y="3662525"/>
            <a:ext cx="448200" cy="3564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2162625" y="3662525"/>
            <a:ext cx="4482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2162628" y="3662525"/>
            <a:ext cx="470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2162628" y="3824700"/>
            <a:ext cx="4482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2vC/4MEM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2997866" y="3662527"/>
            <a:ext cx="7329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2997866" y="3662527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2997866" y="3662527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2997866" y="3824707"/>
            <a:ext cx="732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3833112" y="3662527"/>
            <a:ext cx="7329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3833112" y="3662527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833112" y="3662527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3833112" y="3824707"/>
            <a:ext cx="732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분석/DW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668358" y="3662525"/>
            <a:ext cx="732900" cy="3399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668357" y="3662527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4668367" y="3677964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고객앱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668358" y="3814450"/>
            <a:ext cx="732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503603" y="3662527"/>
            <a:ext cx="7329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503603" y="3662527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503603" y="3662527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통합고객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5503603" y="3824707"/>
            <a:ext cx="732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통합고객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1567605" y="3659075"/>
            <a:ext cx="570600" cy="3567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1567625" y="3659075"/>
            <a:ext cx="5706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567605" y="3659150"/>
            <a:ext cx="570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1567624" y="3821325"/>
            <a:ext cx="5706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게시판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92130" y="4239796"/>
            <a:ext cx="37446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데이터 / 배치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92130" y="4363107"/>
            <a:ext cx="14445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92130" y="4363107"/>
            <a:ext cx="1444500" cy="162300"/>
          </a:xfrm>
          <a:prstGeom prst="rect">
            <a:avLst/>
          </a:prstGeom>
          <a:solidFill>
            <a:srgbClr val="2D6010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92130" y="4363107"/>
            <a:ext cx="144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⏱️ AirFlow - Batch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92130" y="4525287"/>
            <a:ext cx="1444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자정 배치 | J-Salon/J-Works DB R/W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2016663" y="4363107"/>
            <a:ext cx="13374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2016663" y="4363107"/>
            <a:ext cx="1337400" cy="162300"/>
          </a:xfrm>
          <a:prstGeom prst="rect">
            <a:avLst/>
          </a:prstGeom>
          <a:solidFill>
            <a:srgbClr val="2D6010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016663" y="4363107"/>
            <a:ext cx="13374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AirFlow - ETL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2016663" y="4525287"/>
            <a:ext cx="1337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POS/J-Salon DB → 분석 DB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434212" y="4363107"/>
            <a:ext cx="11235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3434212" y="4363107"/>
            <a:ext cx="1123500" cy="162300"/>
          </a:xfrm>
          <a:prstGeom prst="rect">
            <a:avLst/>
          </a:prstGeom>
          <a:solidFill>
            <a:srgbClr val="2D6010"/>
          </a:solidFill>
          <a:ln cap="flat" cmpd="sng" w="952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3434212" y="4363107"/>
            <a:ext cx="1123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Jenkins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3434212" y="4525287"/>
            <a:ext cx="1123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CI/CD | Vault AppRole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32095" y="4930666"/>
            <a:ext cx="7050300" cy="21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78160" y="5003646"/>
            <a:ext cx="64500" cy="97500"/>
          </a:xfrm>
          <a:prstGeom prst="ellipse">
            <a:avLst/>
          </a:prstGeom>
          <a:solidFill>
            <a:srgbClr val="1D6FD8"/>
          </a:solidFill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358399" y="4971210"/>
            <a:ext cx="829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 API 호출 (동기)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1401500" y="5003646"/>
            <a:ext cx="64500" cy="97500"/>
          </a:xfrm>
          <a:prstGeom prst="ellipse">
            <a:avLst/>
          </a:prstGeom>
          <a:solidFill>
            <a:srgbClr val="C07010"/>
          </a:solidFill>
          <a:ln cap="flat" cmpd="sng" w="10100">
            <a:solidFill>
              <a:srgbClr val="C07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481739" y="4971210"/>
            <a:ext cx="989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Kafka 이벤트 (비동기)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685318" y="5003646"/>
            <a:ext cx="64500" cy="97500"/>
          </a:xfrm>
          <a:prstGeom prst="ellipse">
            <a:avLst/>
          </a:prstGeom>
          <a:solidFill>
            <a:srgbClr val="0A7040"/>
          </a:solidFill>
          <a:ln cap="flat" cmpd="sng" w="10100">
            <a:solidFill>
              <a:srgbClr val="0A7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2765557" y="4971210"/>
            <a:ext cx="748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 직접 접근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3728420" y="5003646"/>
            <a:ext cx="64500" cy="97500"/>
          </a:xfrm>
          <a:prstGeom prst="ellipse">
            <a:avLst/>
          </a:prstGeom>
          <a:solidFill>
            <a:srgbClr val="7733CC"/>
          </a:solidFill>
          <a:ln cap="flat" cmpd="sng" w="10100">
            <a:solidFill>
              <a:srgbClr val="77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3808658" y="4971210"/>
            <a:ext cx="695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JWT 검증 흐름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718029" y="5003646"/>
            <a:ext cx="64500" cy="97500"/>
          </a:xfrm>
          <a:prstGeom prst="ellipse">
            <a:avLst/>
          </a:prstGeom>
          <a:solidFill>
            <a:srgbClr val="777777"/>
          </a:solidFill>
          <a:ln cap="flat" cmpd="sng" w="101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798268" y="4971210"/>
            <a:ext cx="748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Vault Secret 연동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761131" y="5003646"/>
            <a:ext cx="64500" cy="97500"/>
          </a:xfrm>
          <a:prstGeom prst="ellipse">
            <a:avLst/>
          </a:prstGeom>
          <a:solidFill>
            <a:srgbClr val="CC1111"/>
          </a:solidFill>
          <a:ln cap="flat" cmpd="sng" w="10100">
            <a:solidFill>
              <a:srgbClr val="CC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5841370" y="4971210"/>
            <a:ext cx="722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⚠️ 보안이슈 경로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4"/>
          <p:cNvCxnSpPr>
            <a:stCxn id="71" idx="2"/>
            <a:endCxn id="154" idx="0"/>
          </p:cNvCxnSpPr>
          <p:nvPr/>
        </p:nvCxnSpPr>
        <p:spPr>
          <a:xfrm>
            <a:off x="898676" y="753318"/>
            <a:ext cx="2625300" cy="372600"/>
          </a:xfrm>
          <a:prstGeom prst="straightConnector1">
            <a:avLst/>
          </a:prstGeom>
          <a:noFill/>
          <a:ln cap="flat" cmpd="sng" w="2020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32" name="Google Shape;232;p14"/>
          <p:cNvCxnSpPr>
            <a:stCxn id="97" idx="2"/>
            <a:endCxn id="233" idx="0"/>
          </p:cNvCxnSpPr>
          <p:nvPr/>
        </p:nvCxnSpPr>
        <p:spPr>
          <a:xfrm flipH="1">
            <a:off x="3278087" y="753310"/>
            <a:ext cx="2426100" cy="1768800"/>
          </a:xfrm>
          <a:prstGeom prst="straightConnector1">
            <a:avLst/>
          </a:prstGeom>
          <a:noFill/>
          <a:ln cap="flat" cmpd="sng" w="18175">
            <a:solidFill>
              <a:srgbClr val="CC111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34" name="Google Shape;234;p14"/>
          <p:cNvCxnSpPr/>
          <p:nvPr/>
        </p:nvCxnSpPr>
        <p:spPr>
          <a:xfrm>
            <a:off x="1107292" y="2913881"/>
            <a:ext cx="1230000" cy="300"/>
          </a:xfrm>
          <a:prstGeom prst="straightConnector1">
            <a:avLst/>
          </a:prstGeom>
          <a:noFill/>
          <a:ln cap="flat" cmpd="sng" w="14150">
            <a:solidFill>
              <a:srgbClr val="7733CC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5" name="Google Shape;235;p14"/>
          <p:cNvCxnSpPr/>
          <p:nvPr/>
        </p:nvCxnSpPr>
        <p:spPr>
          <a:xfrm>
            <a:off x="1107292" y="2913881"/>
            <a:ext cx="5349300" cy="3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14"/>
          <p:cNvCxnSpPr/>
          <p:nvPr/>
        </p:nvCxnSpPr>
        <p:spPr>
          <a:xfrm flipH="1">
            <a:off x="1107204" y="2913881"/>
            <a:ext cx="2380500" cy="300"/>
          </a:xfrm>
          <a:prstGeom prst="straightConnector1">
            <a:avLst/>
          </a:prstGeom>
          <a:noFill/>
          <a:ln cap="flat" cmpd="sng" w="10100">
            <a:solidFill>
              <a:srgbClr val="7733CC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237" name="Google Shape;237;p14"/>
          <p:cNvCxnSpPr/>
          <p:nvPr/>
        </p:nvCxnSpPr>
        <p:spPr>
          <a:xfrm flipH="1">
            <a:off x="858370" y="3538685"/>
            <a:ext cx="510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38" name="Google Shape;238;p14"/>
          <p:cNvCxnSpPr/>
          <p:nvPr/>
        </p:nvCxnSpPr>
        <p:spPr>
          <a:xfrm flipH="1">
            <a:off x="2529198" y="3538685"/>
            <a:ext cx="2952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39" name="Google Shape;239;p14"/>
          <p:cNvCxnSpPr>
            <a:stCxn id="137" idx="2"/>
            <a:endCxn id="203" idx="0"/>
          </p:cNvCxnSpPr>
          <p:nvPr/>
        </p:nvCxnSpPr>
        <p:spPr>
          <a:xfrm flipH="1">
            <a:off x="1853008" y="2379930"/>
            <a:ext cx="3277200" cy="12792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0" name="Google Shape;240;p14"/>
          <p:cNvCxnSpPr>
            <a:stCxn id="112" idx="2"/>
          </p:cNvCxnSpPr>
          <p:nvPr/>
        </p:nvCxnSpPr>
        <p:spPr>
          <a:xfrm>
            <a:off x="3277879" y="2974850"/>
            <a:ext cx="2382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1" name="Google Shape;241;p14"/>
          <p:cNvCxnSpPr/>
          <p:nvPr/>
        </p:nvCxnSpPr>
        <p:spPr>
          <a:xfrm rot="10800000">
            <a:off x="3552712" y="1378385"/>
            <a:ext cx="229200" cy="2160300"/>
          </a:xfrm>
          <a:prstGeom prst="straightConnector1">
            <a:avLst/>
          </a:prstGeom>
          <a:noFill/>
          <a:ln cap="flat" cmpd="sng" w="1415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2" name="Google Shape;242;p14"/>
          <p:cNvCxnSpPr/>
          <p:nvPr/>
        </p:nvCxnSpPr>
        <p:spPr>
          <a:xfrm flipH="1">
            <a:off x="858412" y="3535660"/>
            <a:ext cx="2923500" cy="123600"/>
          </a:xfrm>
          <a:prstGeom prst="straightConnector1">
            <a:avLst/>
          </a:prstGeom>
          <a:noFill/>
          <a:ln cap="flat" cmpd="sng" w="11150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3" name="Google Shape;243;p14"/>
          <p:cNvCxnSpPr>
            <a:endCxn id="152" idx="0"/>
          </p:cNvCxnSpPr>
          <p:nvPr/>
        </p:nvCxnSpPr>
        <p:spPr>
          <a:xfrm>
            <a:off x="2764246" y="1349638"/>
            <a:ext cx="2914200" cy="666300"/>
          </a:xfrm>
          <a:prstGeom prst="straightConnector1">
            <a:avLst/>
          </a:prstGeom>
          <a:noFill/>
          <a:ln cap="flat" cmpd="sng" w="13125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4" name="Google Shape;244;p14"/>
          <p:cNvCxnSpPr>
            <a:endCxn id="184" idx="2"/>
          </p:cNvCxnSpPr>
          <p:nvPr/>
        </p:nvCxnSpPr>
        <p:spPr>
          <a:xfrm flipH="1" rot="10800000">
            <a:off x="1214328" y="4002300"/>
            <a:ext cx="1172400" cy="3609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5" name="Google Shape;245;p14"/>
          <p:cNvCxnSpPr/>
          <p:nvPr/>
        </p:nvCxnSpPr>
        <p:spPr>
          <a:xfrm rot="10800000">
            <a:off x="858618" y="4181307"/>
            <a:ext cx="18267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6" name="Google Shape;246;p14"/>
          <p:cNvCxnSpPr/>
          <p:nvPr/>
        </p:nvCxnSpPr>
        <p:spPr>
          <a:xfrm flipH="1" rot="10800000">
            <a:off x="2685318" y="4181307"/>
            <a:ext cx="15141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47" name="Google Shape;247;p14"/>
          <p:cNvCxnSpPr/>
          <p:nvPr/>
        </p:nvCxnSpPr>
        <p:spPr>
          <a:xfrm flipH="1" rot="10800000">
            <a:off x="3995882" y="2914107"/>
            <a:ext cx="2460600" cy="14490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248" name="Google Shape;248;p14"/>
          <p:cNvCxnSpPr/>
          <p:nvPr/>
        </p:nvCxnSpPr>
        <p:spPr>
          <a:xfrm>
            <a:off x="74889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14"/>
          <p:cNvCxnSpPr/>
          <p:nvPr/>
        </p:nvCxnSpPr>
        <p:spPr>
          <a:xfrm>
            <a:off x="1198229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C0701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0" name="Google Shape;250;p14"/>
          <p:cNvCxnSpPr/>
          <p:nvPr/>
        </p:nvCxnSpPr>
        <p:spPr>
          <a:xfrm>
            <a:off x="2482047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0A704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1" name="Google Shape;251;p14"/>
          <p:cNvCxnSpPr/>
          <p:nvPr/>
        </p:nvCxnSpPr>
        <p:spPr>
          <a:xfrm>
            <a:off x="3525149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7733C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52" name="Google Shape;252;p14"/>
          <p:cNvCxnSpPr/>
          <p:nvPr/>
        </p:nvCxnSpPr>
        <p:spPr>
          <a:xfrm>
            <a:off x="4514758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77777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53" name="Google Shape;253;p14"/>
          <p:cNvCxnSpPr/>
          <p:nvPr/>
        </p:nvCxnSpPr>
        <p:spPr>
          <a:xfrm>
            <a:off x="5557860" y="4971210"/>
            <a:ext cx="181800" cy="8100"/>
          </a:xfrm>
          <a:prstGeom prst="straightConnector1">
            <a:avLst/>
          </a:prstGeom>
          <a:noFill/>
          <a:ln cap="flat" cmpd="sng" w="22225">
            <a:solidFill>
              <a:srgbClr val="CC111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4" name="Google Shape;254;p14"/>
          <p:cNvCxnSpPr/>
          <p:nvPr/>
        </p:nvCxnSpPr>
        <p:spPr>
          <a:xfrm>
            <a:off x="32095" y="1946608"/>
            <a:ext cx="7050300" cy="8100"/>
          </a:xfrm>
          <a:prstGeom prst="straightConnector1">
            <a:avLst/>
          </a:prstGeom>
          <a:noFill/>
          <a:ln cap="flat" cmpd="sng" w="22225">
            <a:solidFill>
              <a:srgbClr val="B83A1E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5" name="Google Shape;255;p14"/>
          <p:cNvCxnSpPr>
            <a:stCxn id="137" idx="2"/>
            <a:endCxn id="115" idx="0"/>
          </p:cNvCxnSpPr>
          <p:nvPr/>
        </p:nvCxnSpPr>
        <p:spPr>
          <a:xfrm>
            <a:off x="5130208" y="2379930"/>
            <a:ext cx="1326300" cy="147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56" name="Google Shape;256;p14"/>
          <p:cNvCxnSpPr>
            <a:stCxn id="137" idx="2"/>
          </p:cNvCxnSpPr>
          <p:nvPr/>
        </p:nvCxnSpPr>
        <p:spPr>
          <a:xfrm flipH="1">
            <a:off x="1249408" y="2379930"/>
            <a:ext cx="38808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57" name="Google Shape;257;p14"/>
          <p:cNvCxnSpPr>
            <a:stCxn id="112" idx="2"/>
          </p:cNvCxnSpPr>
          <p:nvPr/>
        </p:nvCxnSpPr>
        <p:spPr>
          <a:xfrm>
            <a:off x="3277879" y="2974850"/>
            <a:ext cx="2382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58" name="Google Shape;258;p14"/>
          <p:cNvCxnSpPr>
            <a:stCxn id="112" idx="2"/>
          </p:cNvCxnSpPr>
          <p:nvPr/>
        </p:nvCxnSpPr>
        <p:spPr>
          <a:xfrm flipH="1">
            <a:off x="648679" y="2974850"/>
            <a:ext cx="26292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59" name="Google Shape;259;p14"/>
          <p:cNvCxnSpPr/>
          <p:nvPr/>
        </p:nvCxnSpPr>
        <p:spPr>
          <a:xfrm>
            <a:off x="1109511" y="2962656"/>
            <a:ext cx="1419600" cy="6999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0" name="Google Shape;260;p14"/>
          <p:cNvCxnSpPr/>
          <p:nvPr/>
        </p:nvCxnSpPr>
        <p:spPr>
          <a:xfrm>
            <a:off x="1092546" y="2947226"/>
            <a:ext cx="2271600" cy="7155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1" name="Google Shape;261;p14"/>
          <p:cNvCxnSpPr/>
          <p:nvPr/>
        </p:nvCxnSpPr>
        <p:spPr>
          <a:xfrm flipH="1">
            <a:off x="858462" y="3523298"/>
            <a:ext cx="1971300" cy="1392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2" name="Google Shape;262;p14"/>
          <p:cNvCxnSpPr/>
          <p:nvPr/>
        </p:nvCxnSpPr>
        <p:spPr>
          <a:xfrm flipH="1">
            <a:off x="2529162" y="3528441"/>
            <a:ext cx="300600" cy="1341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3" name="Google Shape;263;p14"/>
          <p:cNvCxnSpPr/>
          <p:nvPr/>
        </p:nvCxnSpPr>
        <p:spPr>
          <a:xfrm>
            <a:off x="2826369" y="3518154"/>
            <a:ext cx="537900" cy="144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4" name="Google Shape;264;p14"/>
          <p:cNvCxnSpPr>
            <a:stCxn id="176" idx="0"/>
          </p:cNvCxnSpPr>
          <p:nvPr/>
        </p:nvCxnSpPr>
        <p:spPr>
          <a:xfrm flipH="1">
            <a:off x="858580" y="3512613"/>
            <a:ext cx="9708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5" name="Google Shape;265;p14"/>
          <p:cNvCxnSpPr>
            <a:stCxn id="176" idx="0"/>
          </p:cNvCxnSpPr>
          <p:nvPr/>
        </p:nvCxnSpPr>
        <p:spPr>
          <a:xfrm>
            <a:off x="1829380" y="3512613"/>
            <a:ext cx="6996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266" name="Google Shape;266;p14"/>
          <p:cNvCxnSpPr>
            <a:stCxn id="176" idx="0"/>
          </p:cNvCxnSpPr>
          <p:nvPr/>
        </p:nvCxnSpPr>
        <p:spPr>
          <a:xfrm>
            <a:off x="1829380" y="3512613"/>
            <a:ext cx="15351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267" name="Google Shape;267;p14"/>
          <p:cNvSpPr/>
          <p:nvPr/>
        </p:nvSpPr>
        <p:spPr>
          <a:xfrm>
            <a:off x="1636654" y="2070450"/>
            <a:ext cx="2339100" cy="177600"/>
          </a:xfrm>
          <a:prstGeom prst="roundRect">
            <a:avLst>
              <a:gd fmla="val 0" name="adj"/>
            </a:avLst>
          </a:prstGeom>
          <a:solidFill>
            <a:srgbClr val="D5D0F5"/>
          </a:solidFill>
          <a:ln cap="flat" cmpd="sng" w="18175">
            <a:solidFill>
              <a:srgbClr val="5B4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750" spcFirstLastPara="1" rIns="727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" sz="738" u="none" cap="none" strike="noStrike">
                <a:solidFill>
                  <a:srgbClr val="2E1A6E"/>
                </a:solidFill>
                <a:latin typeface="Calibri"/>
                <a:ea typeface="Calibri"/>
                <a:cs typeface="Calibri"/>
                <a:sym typeface="Calibri"/>
              </a:rPr>
              <a:t>🛡️ JUNO API Gateway  :9000     </a:t>
            </a:r>
            <a:r>
              <a:rPr b="0" i="0" lang="ko" sz="574" u="none" cap="none" strike="noStrike">
                <a:solidFill>
                  <a:srgbClr val="4B3B8C"/>
                </a:solidFill>
                <a:latin typeface="Calibri"/>
                <a:ea typeface="Calibri"/>
                <a:cs typeface="Calibri"/>
                <a:sym typeface="Calibri"/>
              </a:rPr>
              <a:t>Auth · Routing · Rate Limit · Logging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4"/>
          <p:cNvCxnSpPr>
            <a:stCxn id="71" idx="2"/>
          </p:cNvCxnSpPr>
          <p:nvPr/>
        </p:nvCxnSpPr>
        <p:spPr>
          <a:xfrm>
            <a:off x="898676" y="753318"/>
            <a:ext cx="2088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9" name="Google Shape;269;p14"/>
          <p:cNvCxnSpPr>
            <a:stCxn id="71" idx="2"/>
          </p:cNvCxnSpPr>
          <p:nvPr/>
        </p:nvCxnSpPr>
        <p:spPr>
          <a:xfrm>
            <a:off x="898676" y="753318"/>
            <a:ext cx="14388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0" name="Google Shape;270;p14"/>
          <p:cNvCxnSpPr>
            <a:stCxn id="71" idx="2"/>
          </p:cNvCxnSpPr>
          <p:nvPr/>
        </p:nvCxnSpPr>
        <p:spPr>
          <a:xfrm>
            <a:off x="898676" y="753318"/>
            <a:ext cx="25890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1" name="Google Shape;271;p14"/>
          <p:cNvCxnSpPr>
            <a:stCxn id="71" idx="2"/>
          </p:cNvCxnSpPr>
          <p:nvPr/>
        </p:nvCxnSpPr>
        <p:spPr>
          <a:xfrm>
            <a:off x="898676" y="753318"/>
            <a:ext cx="10800" cy="23151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2" name="Google Shape;272;p14"/>
          <p:cNvCxnSpPr>
            <a:stCxn id="77" idx="2"/>
            <a:endCxn id="267" idx="0"/>
          </p:cNvCxnSpPr>
          <p:nvPr/>
        </p:nvCxnSpPr>
        <p:spPr>
          <a:xfrm>
            <a:off x="1859763" y="753318"/>
            <a:ext cx="9465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3" name="Google Shape;273;p14"/>
          <p:cNvCxnSpPr>
            <a:stCxn id="82" idx="2"/>
            <a:endCxn id="267" idx="0"/>
          </p:cNvCxnSpPr>
          <p:nvPr/>
        </p:nvCxnSpPr>
        <p:spPr>
          <a:xfrm flipH="1">
            <a:off x="2806240" y="753288"/>
            <a:ext cx="14700" cy="13173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4" name="Google Shape;274;p14"/>
          <p:cNvCxnSpPr>
            <a:stCxn id="87" idx="2"/>
            <a:endCxn id="267" idx="0"/>
          </p:cNvCxnSpPr>
          <p:nvPr/>
        </p:nvCxnSpPr>
        <p:spPr>
          <a:xfrm flipH="1">
            <a:off x="2806120" y="749730"/>
            <a:ext cx="975900" cy="13206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5" name="Google Shape;275;p14"/>
          <p:cNvCxnSpPr>
            <a:stCxn id="92" idx="2"/>
            <a:endCxn id="267" idx="0"/>
          </p:cNvCxnSpPr>
          <p:nvPr/>
        </p:nvCxnSpPr>
        <p:spPr>
          <a:xfrm flipH="1">
            <a:off x="2806307" y="753332"/>
            <a:ext cx="19368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6" name="Google Shape;276;p14"/>
          <p:cNvCxnSpPr>
            <a:stCxn id="97" idx="2"/>
            <a:endCxn id="267" idx="0"/>
          </p:cNvCxnSpPr>
          <p:nvPr/>
        </p:nvCxnSpPr>
        <p:spPr>
          <a:xfrm flipH="1">
            <a:off x="2806187" y="753310"/>
            <a:ext cx="28980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7" name="Google Shape;277;p14"/>
          <p:cNvCxnSpPr>
            <a:stCxn id="267" idx="2"/>
            <a:endCxn id="105" idx="0"/>
          </p:cNvCxnSpPr>
          <p:nvPr/>
        </p:nvCxnSpPr>
        <p:spPr>
          <a:xfrm flipH="1">
            <a:off x="1107004" y="2248050"/>
            <a:ext cx="1699200" cy="2793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8" name="Google Shape;278;p14"/>
          <p:cNvCxnSpPr/>
          <p:nvPr/>
        </p:nvCxnSpPr>
        <p:spPr>
          <a:xfrm flipH="1">
            <a:off x="2332135" y="1048808"/>
            <a:ext cx="2568000" cy="1483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9" name="Google Shape;279;p14"/>
          <p:cNvCxnSpPr>
            <a:stCxn id="267" idx="2"/>
            <a:endCxn id="233" idx="0"/>
          </p:cNvCxnSpPr>
          <p:nvPr/>
        </p:nvCxnSpPr>
        <p:spPr>
          <a:xfrm>
            <a:off x="2806204" y="2248050"/>
            <a:ext cx="471600" cy="274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0" name="Google Shape;280;p14"/>
          <p:cNvCxnSpPr>
            <a:stCxn id="267" idx="2"/>
            <a:endCxn id="120" idx="0"/>
          </p:cNvCxnSpPr>
          <p:nvPr/>
        </p:nvCxnSpPr>
        <p:spPr>
          <a:xfrm flipH="1">
            <a:off x="909304" y="2248050"/>
            <a:ext cx="18969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1" name="Google Shape;281;p14"/>
          <p:cNvCxnSpPr>
            <a:stCxn id="267" idx="2"/>
            <a:endCxn id="124" idx="0"/>
          </p:cNvCxnSpPr>
          <p:nvPr/>
        </p:nvCxnSpPr>
        <p:spPr>
          <a:xfrm flipH="1">
            <a:off x="1866904" y="2248050"/>
            <a:ext cx="9393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2" name="Google Shape;282;p14"/>
          <p:cNvCxnSpPr>
            <a:stCxn id="267" idx="2"/>
            <a:endCxn id="128" idx="0"/>
          </p:cNvCxnSpPr>
          <p:nvPr/>
        </p:nvCxnSpPr>
        <p:spPr>
          <a:xfrm>
            <a:off x="2806204" y="2248050"/>
            <a:ext cx="180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3" name="Google Shape;283;p14"/>
          <p:cNvCxnSpPr>
            <a:stCxn id="267" idx="2"/>
            <a:endCxn id="134" idx="0"/>
          </p:cNvCxnSpPr>
          <p:nvPr/>
        </p:nvCxnSpPr>
        <p:spPr>
          <a:xfrm>
            <a:off x="2806204" y="2248050"/>
            <a:ext cx="1618200" cy="2661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4" name="Google Shape;284;p14"/>
          <p:cNvCxnSpPr>
            <a:stCxn id="267" idx="2"/>
            <a:endCxn id="139" idx="0"/>
          </p:cNvCxnSpPr>
          <p:nvPr/>
        </p:nvCxnSpPr>
        <p:spPr>
          <a:xfrm flipH="1" rot="10800000">
            <a:off x="2806204" y="2040150"/>
            <a:ext cx="2323800" cy="2079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5" name="Google Shape;285;p14"/>
          <p:cNvSpPr/>
          <p:nvPr/>
        </p:nvSpPr>
        <p:spPr>
          <a:xfrm>
            <a:off x="489450" y="2485000"/>
            <a:ext cx="2407200" cy="4965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3659175" y="2522188"/>
            <a:ext cx="4794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3659224" y="2527125"/>
            <a:ext cx="4794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(고객앱)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2963512" y="2526563"/>
            <a:ext cx="649800" cy="162300"/>
          </a:xfrm>
          <a:prstGeom prst="rect">
            <a:avLst/>
          </a:prstGeom>
          <a:solidFill>
            <a:srgbClr val="534AB7"/>
          </a:solidFill>
          <a:ln cap="flat" cmpd="sng" w="95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2971351" y="2522188"/>
            <a:ext cx="613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통합 고객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941653" y="2485425"/>
            <a:ext cx="1755000" cy="4965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881942" y="2013100"/>
            <a:ext cx="1089900" cy="3729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>
            <a:off x="4818034" y="2570462"/>
            <a:ext cx="479558" cy="356349"/>
            <a:chOff x="630936" y="1421450"/>
            <a:chExt cx="1621225" cy="440917"/>
          </a:xfrm>
        </p:grpSpPr>
        <p:sp>
          <p:nvSpPr>
            <p:cNvPr id="292" name="Google Shape;292;p14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952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4"/>
          <p:cNvSpPr/>
          <p:nvPr/>
        </p:nvSpPr>
        <p:spPr>
          <a:xfrm>
            <a:off x="4818001" y="2565788"/>
            <a:ext cx="479400" cy="162300"/>
          </a:xfrm>
          <a:prstGeom prst="rect">
            <a:avLst/>
          </a:prstGeom>
          <a:solidFill>
            <a:srgbClr val="444488"/>
          </a:solidFill>
          <a:ln cap="flat" cmpd="sng" w="952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833523" y="2569400"/>
            <a:ext cx="4794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(준오랑)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668358" y="4059899"/>
            <a:ext cx="732900" cy="3081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664185" y="4211575"/>
            <a:ext cx="7329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4668367" y="4036952"/>
            <a:ext cx="732900" cy="162300"/>
          </a:xfrm>
          <a:prstGeom prst="rect">
            <a:avLst/>
          </a:prstGeom>
          <a:solidFill>
            <a:srgbClr val="B83A1E"/>
          </a:solidFill>
          <a:ln cap="flat" cmpd="sng" w="952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664175" y="4047277"/>
            <a:ext cx="732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준오랑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652895" y="3642625"/>
            <a:ext cx="769500" cy="7602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558693" y="3627788"/>
            <a:ext cx="1069800" cy="4053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3850743" y="856500"/>
            <a:ext cx="2339100" cy="177600"/>
          </a:xfrm>
          <a:prstGeom prst="roundRect">
            <a:avLst>
              <a:gd fmla="val 0" name="adj"/>
            </a:avLst>
          </a:prstGeom>
          <a:solidFill>
            <a:srgbClr val="D5D0F5"/>
          </a:solidFill>
          <a:ln cap="flat" cmpd="sng" w="18175">
            <a:solidFill>
              <a:srgbClr val="5B4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750" spcFirstLastPara="1" rIns="727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" sz="738" u="none" cap="none" strike="noStrike">
                <a:solidFill>
                  <a:srgbClr val="2E1A6E"/>
                </a:solidFill>
                <a:latin typeface="Calibri"/>
                <a:ea typeface="Calibri"/>
                <a:cs typeface="Calibri"/>
                <a:sym typeface="Calibri"/>
              </a:rPr>
              <a:t>External API Gateway  :19000     </a:t>
            </a:r>
            <a:r>
              <a:rPr b="0" i="0" lang="ko" sz="574" u="none" cap="none" strike="noStrike">
                <a:solidFill>
                  <a:srgbClr val="4B3B8C"/>
                </a:solidFill>
                <a:latin typeface="Calibri"/>
                <a:ea typeface="Calibri"/>
                <a:cs typeface="Calibri"/>
                <a:sym typeface="Calibri"/>
              </a:rPr>
              <a:t>외부 API 호출 Routing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4"/>
          <p:cNvCxnSpPr>
            <a:stCxn id="124" idx="0"/>
            <a:endCxn id="302" idx="2"/>
          </p:cNvCxnSpPr>
          <p:nvPr/>
        </p:nvCxnSpPr>
        <p:spPr>
          <a:xfrm flipH="1" rot="10800000">
            <a:off x="1866794" y="1034064"/>
            <a:ext cx="31536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p14"/>
          <p:cNvCxnSpPr>
            <a:stCxn id="128" idx="0"/>
            <a:endCxn id="302" idx="2"/>
          </p:cNvCxnSpPr>
          <p:nvPr/>
        </p:nvCxnSpPr>
        <p:spPr>
          <a:xfrm flipH="1" rot="10800000">
            <a:off x="2824308" y="1034064"/>
            <a:ext cx="21960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p14"/>
          <p:cNvCxnSpPr>
            <a:stCxn id="233" idx="0"/>
            <a:endCxn id="302" idx="2"/>
          </p:cNvCxnSpPr>
          <p:nvPr/>
        </p:nvCxnSpPr>
        <p:spPr>
          <a:xfrm flipH="1" rot="10800000">
            <a:off x="3277951" y="1034188"/>
            <a:ext cx="1742400" cy="14880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p14"/>
          <p:cNvCxnSpPr>
            <a:stCxn id="287" idx="0"/>
            <a:endCxn id="302" idx="2"/>
          </p:cNvCxnSpPr>
          <p:nvPr/>
        </p:nvCxnSpPr>
        <p:spPr>
          <a:xfrm flipH="1" rot="10800000">
            <a:off x="3898924" y="1034025"/>
            <a:ext cx="1121400" cy="14931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14"/>
          <p:cNvCxnSpPr>
            <a:stCxn id="295" idx="0"/>
            <a:endCxn id="302" idx="2"/>
          </p:cNvCxnSpPr>
          <p:nvPr/>
        </p:nvCxnSpPr>
        <p:spPr>
          <a:xfrm rot="10800000">
            <a:off x="5020423" y="1034000"/>
            <a:ext cx="52800" cy="15354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p14"/>
          <p:cNvCxnSpPr>
            <a:stCxn id="120" idx="0"/>
            <a:endCxn id="302" idx="2"/>
          </p:cNvCxnSpPr>
          <p:nvPr/>
        </p:nvCxnSpPr>
        <p:spPr>
          <a:xfrm flipH="1" rot="10800000">
            <a:off x="909280" y="1034064"/>
            <a:ext cx="41109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9" name="Google Shape;309;p14"/>
          <p:cNvCxnSpPr>
            <a:stCxn id="92" idx="2"/>
            <a:endCxn id="302" idx="0"/>
          </p:cNvCxnSpPr>
          <p:nvPr/>
        </p:nvCxnSpPr>
        <p:spPr>
          <a:xfrm>
            <a:off x="4743107" y="753332"/>
            <a:ext cx="2772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0" name="Google Shape;310;p14"/>
          <p:cNvCxnSpPr>
            <a:stCxn id="139" idx="0"/>
            <a:endCxn id="302" idx="2"/>
          </p:cNvCxnSpPr>
          <p:nvPr/>
        </p:nvCxnSpPr>
        <p:spPr>
          <a:xfrm rot="10800000">
            <a:off x="5020282" y="1034188"/>
            <a:ext cx="109800" cy="10059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1" name="Google Shape;311;p14"/>
          <p:cNvCxnSpPr>
            <a:stCxn id="152" idx="0"/>
            <a:endCxn id="302" idx="2"/>
          </p:cNvCxnSpPr>
          <p:nvPr/>
        </p:nvCxnSpPr>
        <p:spPr>
          <a:xfrm rot="10800000">
            <a:off x="5020246" y="1034038"/>
            <a:ext cx="658200" cy="9819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2" name="Google Shape;312;p14"/>
          <p:cNvCxnSpPr>
            <a:stCxn id="77" idx="2"/>
            <a:endCxn id="302" idx="0"/>
          </p:cNvCxnSpPr>
          <p:nvPr/>
        </p:nvCxnSpPr>
        <p:spPr>
          <a:xfrm>
            <a:off x="1859763" y="753318"/>
            <a:ext cx="31605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3" name="Google Shape;313;p14"/>
          <p:cNvCxnSpPr>
            <a:stCxn id="82" idx="2"/>
            <a:endCxn id="302" idx="0"/>
          </p:cNvCxnSpPr>
          <p:nvPr/>
        </p:nvCxnSpPr>
        <p:spPr>
          <a:xfrm>
            <a:off x="2820940" y="753288"/>
            <a:ext cx="21993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7141464" y="0"/>
            <a:ext cx="0" cy="4930500"/>
          </a:xfrm>
          <a:prstGeom prst="straightConnector1">
            <a:avLst/>
          </a:prstGeom>
          <a:noFill/>
          <a:ln cap="flat" cmpd="sng" w="10150">
            <a:solidFill>
              <a:srgbClr val="0F2C5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5" name="Google Shape;315;p14"/>
          <p:cNvSpPr/>
          <p:nvPr/>
        </p:nvSpPr>
        <p:spPr>
          <a:xfrm>
            <a:off x="7150608" y="0"/>
            <a:ext cx="1975200" cy="276000"/>
          </a:xfrm>
          <a:prstGeom prst="rect">
            <a:avLst/>
          </a:prstGeom>
          <a:solidFill>
            <a:srgbClr val="1A3A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8000" lIns="22000" spcFirstLastPara="1" rIns="22000" wrap="square" tIns="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통합발송 시스템</a:t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7150608" y="276148"/>
            <a:ext cx="1975200" cy="1719000"/>
          </a:xfrm>
          <a:prstGeom prst="rect">
            <a:avLst/>
          </a:prstGeom>
          <a:solidFill>
            <a:srgbClr val="E3F1EB"/>
          </a:solidFill>
          <a:ln cap="flat" cmpd="sng" w="952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150608" y="276148"/>
            <a:ext cx="1975200" cy="146400"/>
          </a:xfrm>
          <a:prstGeom prst="rect">
            <a:avLst/>
          </a:prstGeom>
          <a:solidFill>
            <a:srgbClr val="C8E6C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8000" lIns="22000" spcFirstLastPara="1" rIns="22000" wrap="square" tIns="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1E5A1F"/>
                </a:solidFill>
                <a:latin typeface="Malgun Gothic"/>
                <a:ea typeface="Malgun Gothic"/>
                <a:cs typeface="Malgun Gothic"/>
                <a:sym typeface="Malgun Gothic"/>
              </a:rPr>
              <a:t>3번 서버 (DMZ)</a:t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7214616" y="605332"/>
            <a:ext cx="1847100" cy="365700"/>
          </a:xfrm>
          <a:prstGeom prst="roundRect">
            <a:avLst>
              <a:gd fmla="val 16667" name="adj"/>
            </a:avLst>
          </a:prstGeom>
          <a:solidFill>
            <a:srgbClr val="FFF3C4"/>
          </a:solidFill>
          <a:ln cap="flat" cmpd="sng" w="9525">
            <a:solidFill>
              <a:srgbClr val="C79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7214616" y="605332"/>
            <a:ext cx="184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633806"/>
                </a:solidFill>
                <a:latin typeface="Malgun Gothic"/>
                <a:ea typeface="Malgun Gothic"/>
                <a:cs typeface="Malgun Gothic"/>
                <a:sym typeface="Malgun Gothic"/>
              </a:rPr>
              <a:t>mis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633806"/>
                </a:solidFill>
                <a:latin typeface="Malgun Gothic"/>
                <a:ea typeface="Malgun Gothic"/>
                <a:cs typeface="Malgun Gothic"/>
                <a:sym typeface="Malgun Gothic"/>
              </a:rPr>
              <a:t>message ingress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8915400" y="596188"/>
            <a:ext cx="146400" cy="1464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7214616" y="1044244"/>
            <a:ext cx="1847100" cy="365700"/>
          </a:xfrm>
          <a:prstGeom prst="roundRect">
            <a:avLst>
              <a:gd fmla="val 16667" name="adj"/>
            </a:avLst>
          </a:prstGeom>
          <a:solidFill>
            <a:srgbClr val="FFE5B4"/>
          </a:solidFill>
          <a:ln cap="flat" cmpd="sng" w="952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7214616" y="1044244"/>
            <a:ext cx="184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A06010"/>
                </a:solidFill>
                <a:latin typeface="Malgun Gothic"/>
                <a:ea typeface="Malgun Gothic"/>
                <a:cs typeface="Malgun Gothic"/>
                <a:sym typeface="Malgun Gothic"/>
              </a:rPr>
              <a:t>⚡ Kafka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A06010"/>
                </a:solidFill>
                <a:latin typeface="Malgun Gothic"/>
                <a:ea typeface="Malgun Gothic"/>
                <a:cs typeface="Malgun Gothic"/>
                <a:sym typeface="Malgun Gothic"/>
              </a:rPr>
              <a:t>message broker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7214616" y="1483156"/>
            <a:ext cx="1847100" cy="365700"/>
          </a:xfrm>
          <a:prstGeom prst="roundRect">
            <a:avLst>
              <a:gd fmla="val 16667" name="adj"/>
            </a:avLst>
          </a:prstGeom>
          <a:solidFill>
            <a:srgbClr val="FFF3C4"/>
          </a:solidFill>
          <a:ln cap="flat" cmpd="sng" w="9525">
            <a:solidFill>
              <a:srgbClr val="C79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7214616" y="1483156"/>
            <a:ext cx="184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633806"/>
                </a:solidFill>
                <a:latin typeface="Malgun Gothic"/>
                <a:ea typeface="Malgun Gothic"/>
                <a:cs typeface="Malgun Gothic"/>
                <a:sym typeface="Malgun Gothic"/>
              </a:rPr>
              <a:t>mss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633806"/>
                </a:solidFill>
                <a:latin typeface="Malgun Gothic"/>
                <a:ea typeface="Malgun Gothic"/>
                <a:cs typeface="Malgun Gothic"/>
                <a:sym typeface="Malgun Gothic"/>
              </a:rPr>
              <a:t>message send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8915400" y="1474012"/>
            <a:ext cx="146400" cy="1464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7150608" y="1995220"/>
            <a:ext cx="1975200" cy="2935200"/>
          </a:xfrm>
          <a:prstGeom prst="rect">
            <a:avLst/>
          </a:prstGeom>
          <a:solidFill>
            <a:srgbClr val="FAF0EC"/>
          </a:solidFill>
          <a:ln cap="flat" cmpd="sng" w="9525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7150608" y="1995220"/>
            <a:ext cx="1975200" cy="14640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8000" lIns="22000" spcFirstLastPara="1" rIns="22000" wrap="square" tIns="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6D2E46"/>
                </a:solidFill>
                <a:latin typeface="Malgun Gothic"/>
                <a:ea typeface="Malgun Gothic"/>
                <a:cs typeface="Malgun Gothic"/>
                <a:sym typeface="Malgun Gothic"/>
              </a:rPr>
              <a:t>1번·2번 서버 (Private)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7187184" y="2159812"/>
            <a:ext cx="1902000" cy="1828800"/>
          </a:xfrm>
          <a:prstGeom prst="rect">
            <a:avLst/>
          </a:prstGeom>
          <a:noFill/>
          <a:ln cap="flat" cmpd="sng" w="11425">
            <a:solidFill>
              <a:srgbClr val="21D4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7205472" y="2178100"/>
            <a:ext cx="18837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650" u="none" cap="none" strike="noStrike">
                <a:solidFill>
                  <a:srgbClr val="1B5E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1번 서버 · 5 Pods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7232904" y="2333548"/>
            <a:ext cx="1810500" cy="298200"/>
          </a:xfrm>
          <a:prstGeom prst="roundRect">
            <a:avLst>
              <a:gd fmla="val 16667" name="adj"/>
            </a:avLst>
          </a:prstGeom>
          <a:solidFill>
            <a:srgbClr val="CFD8FA"/>
          </a:solidFill>
          <a:ln cap="flat" cmpd="sng" w="9525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7232904" y="2333548"/>
            <a:ext cx="1810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1A237E"/>
                </a:solidFill>
                <a:latin typeface="Malgun Gothic"/>
                <a:ea typeface="Malgun Gothic"/>
                <a:cs typeface="Malgun Gothic"/>
                <a:sym typeface="Malgun Gothic"/>
              </a:rPr>
              <a:t>mgs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1A237E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</a:t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8906256" y="2324404"/>
            <a:ext cx="137100" cy="1371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7232904" y="2659075"/>
            <a:ext cx="1810500" cy="298200"/>
          </a:xfrm>
          <a:prstGeom prst="roundRect">
            <a:avLst>
              <a:gd fmla="val 16667" name="adj"/>
            </a:avLst>
          </a:prstGeom>
          <a:solidFill>
            <a:srgbClr val="C8E6C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7232904" y="2659075"/>
            <a:ext cx="1810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1B5E20"/>
                </a:solidFill>
                <a:latin typeface="Malgun Gothic"/>
                <a:ea typeface="Malgun Gothic"/>
                <a:cs typeface="Malgun Gothic"/>
                <a:sym typeface="Malgun Gothic"/>
              </a:rPr>
              <a:t>mbs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1B5E2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906256" y="2649931"/>
            <a:ext cx="137100" cy="1371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7232904" y="2984601"/>
            <a:ext cx="1810500" cy="298200"/>
          </a:xfrm>
          <a:prstGeom prst="roundRect">
            <a:avLst>
              <a:gd fmla="val 16667" name="adj"/>
            </a:avLst>
          </a:prstGeom>
          <a:solidFill>
            <a:srgbClr val="FFCDD2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7232904" y="2984601"/>
            <a:ext cx="1810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mcs-sms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SMS</a:t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8906256" y="2975457"/>
            <a:ext cx="137100" cy="1371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232904" y="3310128"/>
            <a:ext cx="1810500" cy="298200"/>
          </a:xfrm>
          <a:prstGeom prst="roundRect">
            <a:avLst>
              <a:gd fmla="val 16667" name="adj"/>
            </a:avLst>
          </a:prstGeom>
          <a:solidFill>
            <a:srgbClr val="FFCDD2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7232904" y="3310128"/>
            <a:ext cx="1810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mcs-push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PUSH</a:t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8906256" y="3300984"/>
            <a:ext cx="137100" cy="1371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7232904" y="3635654"/>
            <a:ext cx="1810500" cy="298200"/>
          </a:xfrm>
          <a:prstGeom prst="roundRect">
            <a:avLst>
              <a:gd fmla="val 16667" name="adj"/>
            </a:avLst>
          </a:prstGeom>
          <a:solidFill>
            <a:srgbClr val="FFCDD2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7232904" y="3635654"/>
            <a:ext cx="1810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mcs-kakao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50" u="none" cap="none" strike="noStrike">
                <a:solidFill>
                  <a:srgbClr val="B7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KAKAO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8906256" y="3626510"/>
            <a:ext cx="137100" cy="13710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7187184" y="4025188"/>
            <a:ext cx="1902000" cy="832200"/>
          </a:xfrm>
          <a:prstGeom prst="rect">
            <a:avLst/>
          </a:prstGeom>
          <a:noFill/>
          <a:ln cap="flat" cmpd="sng" w="114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7205472" y="4043476"/>
            <a:ext cx="18837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650" u="none" cap="none" strike="noStrike">
                <a:solidFill>
                  <a:srgbClr val="E65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2번 서버 (DB)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7496251" y="4189780"/>
            <a:ext cx="1283700" cy="432600"/>
          </a:xfrm>
          <a:prstGeom prst="can">
            <a:avLst>
              <a:gd fmla="val 25000" name="adj"/>
            </a:avLst>
          </a:prstGeom>
          <a:solidFill>
            <a:srgbClr val="FFE0B2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0000" lIns="12000" spcFirstLastPara="1" rIns="12000" wrap="square" tIns="1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900" u="none" cap="none" strike="noStrike">
                <a:solidFill>
                  <a:srgbClr val="E65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UMS DB</a:t>
            </a:r>
            <a:endParaRPr/>
          </a:p>
        </p:txBody>
      </p:sp>
      <p:cxnSp>
        <p:nvCxnSpPr>
          <p:cNvPr id="348" name="Google Shape;348;p14"/>
          <p:cNvCxnSpPr/>
          <p:nvPr/>
        </p:nvCxnSpPr>
        <p:spPr>
          <a:xfrm>
            <a:off x="8138160" y="2631643"/>
            <a:ext cx="0" cy="353100"/>
          </a:xfrm>
          <a:prstGeom prst="straightConnector1">
            <a:avLst/>
          </a:prstGeom>
          <a:noFill/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9" name="Google Shape;349;p14"/>
          <p:cNvSpPr txBox="1"/>
          <p:nvPr/>
        </p:nvSpPr>
        <p:spPr>
          <a:xfrm>
            <a:off x="7232904" y="2631643"/>
            <a:ext cx="5028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route</a:t>
            </a:r>
            <a:endParaRPr/>
          </a:p>
        </p:txBody>
      </p:sp>
      <p:cxnSp>
        <p:nvCxnSpPr>
          <p:cNvPr id="350" name="Google Shape;350;p14"/>
          <p:cNvCxnSpPr/>
          <p:nvPr/>
        </p:nvCxnSpPr>
        <p:spPr>
          <a:xfrm rot="10800000">
            <a:off x="8138160" y="1409874"/>
            <a:ext cx="0" cy="1249200"/>
          </a:xfrm>
          <a:prstGeom prst="straightConnector1">
            <a:avLst/>
          </a:prstGeom>
          <a:noFill/>
          <a:ln cap="flat" cmpd="sng" w="10150">
            <a:solidFill>
              <a:srgbClr val="D97706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351" name="Google Shape;351;p14"/>
          <p:cNvSpPr txBox="1"/>
          <p:nvPr/>
        </p:nvSpPr>
        <p:spPr>
          <a:xfrm>
            <a:off x="8165592" y="1931212"/>
            <a:ext cx="594300" cy="1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5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producer</a:t>
            </a:r>
            <a:endParaRPr/>
          </a:p>
        </p:txBody>
      </p:sp>
      <p:cxnSp>
        <p:nvCxnSpPr>
          <p:cNvPr id="352" name="Google Shape;352;p14"/>
          <p:cNvCxnSpPr/>
          <p:nvPr/>
        </p:nvCxnSpPr>
        <p:spPr>
          <a:xfrm rot="10800000">
            <a:off x="8138160" y="1409900"/>
            <a:ext cx="0" cy="1574700"/>
          </a:xfrm>
          <a:prstGeom prst="straightConnector1">
            <a:avLst/>
          </a:prstGeom>
          <a:noFill/>
          <a:ln cap="flat" cmpd="sng" w="9525">
            <a:solidFill>
              <a:srgbClr val="D97706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353" name="Google Shape;353;p14"/>
          <p:cNvCxnSpPr/>
          <p:nvPr/>
        </p:nvCxnSpPr>
        <p:spPr>
          <a:xfrm>
            <a:off x="8138160" y="1044244"/>
            <a:ext cx="0" cy="804600"/>
          </a:xfrm>
          <a:prstGeom prst="straightConnector1">
            <a:avLst/>
          </a:prstGeom>
          <a:noFill/>
          <a:ln cap="flat" cmpd="sng" w="9525">
            <a:solidFill>
              <a:srgbClr val="D97706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354" name="Google Shape;354;p14"/>
          <p:cNvSpPr txBox="1"/>
          <p:nvPr/>
        </p:nvSpPr>
        <p:spPr>
          <a:xfrm>
            <a:off x="8165592" y="1062532"/>
            <a:ext cx="594300" cy="1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5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consumer</a:t>
            </a:r>
            <a:endParaRPr/>
          </a:p>
        </p:txBody>
      </p:sp>
      <p:cxnSp>
        <p:nvCxnSpPr>
          <p:cNvPr id="355" name="Google Shape;355;p14"/>
          <p:cNvCxnSpPr/>
          <p:nvPr/>
        </p:nvCxnSpPr>
        <p:spPr>
          <a:xfrm>
            <a:off x="8138160" y="1848916"/>
            <a:ext cx="0" cy="54900"/>
          </a:xfrm>
          <a:prstGeom prst="straightConnector1">
            <a:avLst/>
          </a:prstGeom>
          <a:noFill/>
          <a:ln cap="flat" cmpd="sng" w="10150">
            <a:solidFill>
              <a:srgbClr val="C62828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" name="Google Shape;356;p14"/>
          <p:cNvCxnSpPr/>
          <p:nvPr/>
        </p:nvCxnSpPr>
        <p:spPr>
          <a:xfrm>
            <a:off x="8138160" y="3933748"/>
            <a:ext cx="0" cy="2559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sm" w="sm" type="none"/>
            <a:tailEnd len="sm" w="sm" type="triangle"/>
          </a:ln>
        </p:spPr>
      </p:cxnSp>
      <p:sp>
        <p:nvSpPr>
          <p:cNvPr id="357" name="Google Shape;357;p14"/>
          <p:cNvSpPr txBox="1"/>
          <p:nvPr/>
        </p:nvSpPr>
        <p:spPr>
          <a:xfrm>
            <a:off x="7232904" y="3952036"/>
            <a:ext cx="292500" cy="1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endParaRPr/>
          </a:p>
        </p:txBody>
      </p:sp>
      <p:cxnSp>
        <p:nvCxnSpPr>
          <p:cNvPr id="358" name="Google Shape;358;p14"/>
          <p:cNvCxnSpPr>
            <a:stCxn id="290" idx="0"/>
          </p:cNvCxnSpPr>
          <p:nvPr/>
        </p:nvCxnSpPr>
        <p:spPr>
          <a:xfrm flipH="1" rot="10800000">
            <a:off x="5426892" y="788200"/>
            <a:ext cx="1787700" cy="1224900"/>
          </a:xfrm>
          <a:prstGeom prst="straightConnector1">
            <a:avLst/>
          </a:prstGeom>
          <a:noFill/>
          <a:ln cap="flat" cmpd="sng" w="9525">
            <a:solidFill>
              <a:srgbClr val="1E88E5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359" name="Google Shape;359;p14"/>
          <p:cNvSpPr txBox="1"/>
          <p:nvPr/>
        </p:nvSpPr>
        <p:spPr>
          <a:xfrm>
            <a:off x="5428737" y="2011680"/>
            <a:ext cx="502800" cy="1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00" lIns="22000" spcFirstLastPara="1" rIns="22000" wrap="square" tIns="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50" u="none" cap="none" strike="noStrike">
                <a:solidFill>
                  <a:srgbClr val="1E88E5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route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7150608" y="4930444"/>
            <a:ext cx="1975200" cy="2130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8000" lIns="22000" spcFirstLastPara="1" rIns="22000" wrap="square" tIns="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● REST API  ◆ Kafka  ▶ route  ··· DB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5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/>
          <p:nvPr/>
        </p:nvSpPr>
        <p:spPr>
          <a:xfrm>
            <a:off x="0" y="0"/>
            <a:ext cx="9121200" cy="275700"/>
          </a:xfrm>
          <a:prstGeom prst="rect">
            <a:avLst/>
          </a:prstGeom>
          <a:solidFill>
            <a:srgbClr val="0F2C5C"/>
          </a:solidFill>
          <a:ln cap="flat" cmpd="sng" w="757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43550" y="0"/>
            <a:ext cx="885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서비스 간 API 호출 · 이벤트 · 데이터 흐름도  (DMZ망 / Private VPC망 구분)  ─  TO-BE (API Gateway 적용)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1148" y="275706"/>
            <a:ext cx="9039000" cy="1719600"/>
          </a:xfrm>
          <a:prstGeom prst="rect">
            <a:avLst/>
          </a:prstGeom>
          <a:solidFill>
            <a:srgbClr val="E3F1EB"/>
          </a:solidFill>
          <a:ln cap="flat" cmpd="sng" w="1817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1148" y="1995386"/>
            <a:ext cx="9039000" cy="2935200"/>
          </a:xfrm>
          <a:prstGeom prst="rect">
            <a:avLst/>
          </a:prstGeom>
          <a:solidFill>
            <a:srgbClr val="FAF0EC"/>
          </a:solidFill>
          <a:ln cap="flat" cmpd="sng" w="181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1148" y="275706"/>
            <a:ext cx="562200" cy="1719600"/>
          </a:xfrm>
          <a:prstGeom prst="rect">
            <a:avLst/>
          </a:prstGeom>
          <a:solidFill>
            <a:srgbClr val="0A6A50"/>
          </a:solidFill>
          <a:ln cap="flat" cmpd="sng" w="757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1148" y="275706"/>
            <a:ext cx="5622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1148" y="1995323"/>
            <a:ext cx="562200" cy="29352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1148" y="1995323"/>
            <a:ext cx="5622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172.20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30938" y="276111"/>
            <a:ext cx="41148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DMZ — 인터넷 / 클라이언트 레이어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30938" y="982342"/>
            <a:ext cx="68238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A50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0A6A50"/>
                </a:solidFill>
                <a:latin typeface="Calibri"/>
                <a:ea typeface="Calibri"/>
                <a:cs typeface="Calibri"/>
                <a:sym typeface="Calibri"/>
              </a:rPr>
              <a:t>DMZ VPC — 192.168.0.0/24  (외부 접근 가능, 클라이언트 / WAS / Kafka / MGMT)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4059938" y="3526080"/>
            <a:ext cx="5208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Private VPC — 172.20.0.0/24  (내부 전용, Notification / Auth API / 서비스 API / DB / 배치)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5"/>
          <p:cNvGrpSpPr/>
          <p:nvPr/>
        </p:nvGrpSpPr>
        <p:grpSpPr>
          <a:xfrm>
            <a:off x="630936" y="380480"/>
            <a:ext cx="1042425" cy="372988"/>
            <a:chOff x="841248" y="547200"/>
            <a:chExt cx="1389900" cy="420600"/>
          </a:xfrm>
        </p:grpSpPr>
        <p:sp>
          <p:nvSpPr>
            <p:cNvPr id="378" name="Google Shape;378;p15"/>
            <p:cNvSpPr/>
            <p:nvPr/>
          </p:nvSpPr>
          <p:spPr>
            <a:xfrm>
              <a:off x="841248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80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841248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75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15"/>
          <p:cNvGrpSpPr/>
          <p:nvPr/>
        </p:nvGrpSpPr>
        <p:grpSpPr>
          <a:xfrm>
            <a:off x="630936" y="380437"/>
            <a:ext cx="1042425" cy="372882"/>
            <a:chOff x="1891048" y="430588"/>
            <a:chExt cx="1389900" cy="420480"/>
          </a:xfrm>
        </p:grpSpPr>
        <p:sp>
          <p:nvSpPr>
            <p:cNvPr id="381" name="Google Shape;381;p15"/>
            <p:cNvSpPr/>
            <p:nvPr/>
          </p:nvSpPr>
          <p:spPr>
            <a:xfrm>
              <a:off x="1891048" y="430588"/>
              <a:ext cx="13899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alibri"/>
                <a:buNone/>
              </a:pPr>
              <a:r>
                <a:rPr b="1" i="0" lang="ko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🖥️ POS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1891048" y="613468"/>
              <a:ext cx="1389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58A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1558A8"/>
                  </a:solidFill>
                  <a:latin typeface="Calibri"/>
                  <a:ea typeface="Calibri"/>
                  <a:cs typeface="Calibri"/>
                  <a:sym typeface="Calibri"/>
                </a:rPr>
                <a:t>WinForms C#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5"/>
          <p:cNvGrpSpPr/>
          <p:nvPr/>
        </p:nvGrpSpPr>
        <p:grpSpPr>
          <a:xfrm>
            <a:off x="1863099" y="380436"/>
            <a:ext cx="1042425" cy="372988"/>
            <a:chOff x="2484120" y="547200"/>
            <a:chExt cx="1389900" cy="420600"/>
          </a:xfrm>
        </p:grpSpPr>
        <p:sp>
          <p:nvSpPr>
            <p:cNvPr id="384" name="Google Shape;384;p15"/>
            <p:cNvSpPr/>
            <p:nvPr/>
          </p:nvSpPr>
          <p:spPr>
            <a:xfrm>
              <a:off x="2484120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80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484120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75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15"/>
          <p:cNvGrpSpPr/>
          <p:nvPr/>
        </p:nvGrpSpPr>
        <p:grpSpPr>
          <a:xfrm>
            <a:off x="1863099" y="380437"/>
            <a:ext cx="1042425" cy="372882"/>
            <a:chOff x="2874208" y="492025"/>
            <a:chExt cx="1389900" cy="420480"/>
          </a:xfrm>
        </p:grpSpPr>
        <p:sp>
          <p:nvSpPr>
            <p:cNvPr id="387" name="Google Shape;387;p15"/>
            <p:cNvSpPr/>
            <p:nvPr/>
          </p:nvSpPr>
          <p:spPr>
            <a:xfrm>
              <a:off x="2874207" y="492025"/>
              <a:ext cx="13899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alibri"/>
                <a:buNone/>
              </a:pPr>
              <a:r>
                <a:rPr b="1" i="0" lang="ko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🌐 J-Salon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74207" y="674905"/>
              <a:ext cx="1389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58A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1558A8"/>
                  </a:solidFill>
                  <a:latin typeface="Calibri"/>
                  <a:ea typeface="Calibri"/>
                  <a:cs typeface="Calibri"/>
                  <a:sym typeface="Calibri"/>
                </a:rPr>
                <a:t>Vue + Pinia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" name="Google Shape;389;p15"/>
          <p:cNvGrpSpPr/>
          <p:nvPr/>
        </p:nvGrpSpPr>
        <p:grpSpPr>
          <a:xfrm>
            <a:off x="3095253" y="380436"/>
            <a:ext cx="1042425" cy="372988"/>
            <a:chOff x="4126992" y="547200"/>
            <a:chExt cx="1389900" cy="420600"/>
          </a:xfrm>
        </p:grpSpPr>
        <p:sp>
          <p:nvSpPr>
            <p:cNvPr id="390" name="Google Shape;390;p15"/>
            <p:cNvSpPr/>
            <p:nvPr/>
          </p:nvSpPr>
          <p:spPr>
            <a:xfrm>
              <a:off x="4126992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80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4126992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75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5"/>
          <p:cNvSpPr/>
          <p:nvPr/>
        </p:nvSpPr>
        <p:spPr>
          <a:xfrm>
            <a:off x="3095244" y="380508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J-Works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3095244" y="542688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Vue + Pinia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15"/>
          <p:cNvGrpSpPr/>
          <p:nvPr/>
        </p:nvGrpSpPr>
        <p:grpSpPr>
          <a:xfrm>
            <a:off x="4327398" y="380425"/>
            <a:ext cx="1042425" cy="372988"/>
            <a:chOff x="5769864" y="547200"/>
            <a:chExt cx="1389900" cy="420600"/>
          </a:xfrm>
        </p:grpSpPr>
        <p:sp>
          <p:nvSpPr>
            <p:cNvPr id="395" name="Google Shape;395;p15"/>
            <p:cNvSpPr/>
            <p:nvPr/>
          </p:nvSpPr>
          <p:spPr>
            <a:xfrm>
              <a:off x="5769864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80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5769864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75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15"/>
          <p:cNvSpPr/>
          <p:nvPr/>
        </p:nvSpPr>
        <p:spPr>
          <a:xfrm>
            <a:off x="4327398" y="376950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디자이너앱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327398" y="539130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" name="Google Shape;399;p15"/>
          <p:cNvGrpSpPr/>
          <p:nvPr/>
        </p:nvGrpSpPr>
        <p:grpSpPr>
          <a:xfrm>
            <a:off x="5554986" y="380480"/>
            <a:ext cx="1042425" cy="372988"/>
            <a:chOff x="7412736" y="547200"/>
            <a:chExt cx="1389900" cy="420600"/>
          </a:xfrm>
        </p:grpSpPr>
        <p:sp>
          <p:nvSpPr>
            <p:cNvPr id="400" name="Google Shape;400;p15"/>
            <p:cNvSpPr/>
            <p:nvPr/>
          </p:nvSpPr>
          <p:spPr>
            <a:xfrm>
              <a:off x="7412736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DDEEFF"/>
            </a:solidFill>
            <a:ln cap="flat" cmpd="sng" w="80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7412736" y="547200"/>
              <a:ext cx="1389900" cy="183000"/>
            </a:xfrm>
            <a:prstGeom prst="rect">
              <a:avLst/>
            </a:prstGeom>
            <a:solidFill>
              <a:srgbClr val="1558A8"/>
            </a:solidFill>
            <a:ln cap="flat" cmpd="sng" w="7575">
              <a:solidFill>
                <a:srgbClr val="1558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15"/>
          <p:cNvSpPr/>
          <p:nvPr/>
        </p:nvSpPr>
        <p:spPr>
          <a:xfrm>
            <a:off x="5559561" y="380552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고객앱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559561" y="54273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6789419" y="380425"/>
            <a:ext cx="1042425" cy="372988"/>
            <a:chOff x="9055608" y="547200"/>
            <a:chExt cx="1389900" cy="420600"/>
          </a:xfrm>
        </p:grpSpPr>
        <p:sp>
          <p:nvSpPr>
            <p:cNvPr id="405" name="Google Shape;405;p15"/>
            <p:cNvSpPr/>
            <p:nvPr/>
          </p:nvSpPr>
          <p:spPr>
            <a:xfrm>
              <a:off x="9055608" y="547200"/>
              <a:ext cx="1389900" cy="420600"/>
            </a:xfrm>
            <a:prstGeom prst="roundRect">
              <a:avLst>
                <a:gd fmla="val 13043" name="adj"/>
              </a:avLst>
            </a:prstGeom>
            <a:solidFill>
              <a:srgbClr val="FEF0C8"/>
            </a:solidFill>
            <a:ln cap="flat" cmpd="sng" w="8075">
              <a:solidFill>
                <a:srgbClr val="A060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9055608" y="547200"/>
              <a:ext cx="1389900" cy="183000"/>
            </a:xfrm>
            <a:prstGeom prst="rect">
              <a:avLst/>
            </a:prstGeom>
            <a:solidFill>
              <a:srgbClr val="A06010"/>
            </a:solidFill>
            <a:ln cap="flat" cmpd="sng" w="7575">
              <a:solidFill>
                <a:srgbClr val="A060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p15"/>
          <p:cNvSpPr/>
          <p:nvPr/>
        </p:nvSpPr>
        <p:spPr>
          <a:xfrm>
            <a:off x="6791715" y="380530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Homepage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791715" y="542710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Java/JSP ⚠️보안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8023860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EBEBEB"/>
          </a:solidFill>
          <a:ln cap="flat" cmpd="sng" w="80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8023860" y="485263"/>
            <a:ext cx="1042500" cy="162300"/>
          </a:xfrm>
          <a:prstGeom prst="rect">
            <a:avLst/>
          </a:prstGeom>
          <a:solidFill>
            <a:srgbClr val="666666"/>
          </a:solidFill>
          <a:ln cap="flat" cmpd="sng" w="7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8023860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JUNO Academy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8023860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완전 독립 서비스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630961" y="2323176"/>
            <a:ext cx="27432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Auth / Core API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30936" y="2527409"/>
            <a:ext cx="15771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80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630936" y="2527409"/>
            <a:ext cx="1577100" cy="162300"/>
          </a:xfrm>
          <a:prstGeom prst="rect">
            <a:avLst/>
          </a:prstGeom>
          <a:solidFill>
            <a:srgbClr val="534AB7"/>
          </a:solidFill>
          <a:ln cap="flat" cmpd="sng" w="75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30936" y="2527409"/>
            <a:ext cx="1577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통합 Login-API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630936" y="2689589"/>
            <a:ext cx="15771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JWT 발급·검증 | Vault(JWT Key)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311146" y="2527409"/>
            <a:ext cx="13716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80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2311146" y="2527409"/>
            <a:ext cx="1371600" cy="162300"/>
          </a:xfrm>
          <a:prstGeom prst="rect">
            <a:avLst/>
          </a:prstGeom>
          <a:solidFill>
            <a:srgbClr val="534AB7"/>
          </a:solidFill>
          <a:ln cap="flat" cmpd="sng" w="75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311146" y="2527409"/>
            <a:ext cx="1371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Permission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311146" y="2689589"/>
            <a:ext cx="1371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신규개발 | Login-API 연동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799375" y="2570700"/>
            <a:ext cx="833100" cy="3726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80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785871" y="2682950"/>
            <a:ext cx="8331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고객 DB | Login-API 검증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7488936" y="2527409"/>
            <a:ext cx="1577100" cy="454200"/>
          </a:xfrm>
          <a:prstGeom prst="roundRect">
            <a:avLst>
              <a:gd fmla="val 10714" name="adj"/>
            </a:avLst>
          </a:prstGeom>
          <a:solidFill>
            <a:srgbClr val="EBEBEB"/>
          </a:solidFill>
          <a:ln cap="flat" cmpd="sng" w="80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7488936" y="2527409"/>
            <a:ext cx="1577100" cy="162300"/>
          </a:xfrm>
          <a:prstGeom prst="rect">
            <a:avLst/>
          </a:prstGeom>
          <a:solidFill>
            <a:srgbClr val="666666"/>
          </a:solidFill>
          <a:ln cap="flat" cmpd="sng" w="7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7488936" y="2527409"/>
            <a:ext cx="1577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Vault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7488936" y="2689589"/>
            <a:ext cx="15771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Secret 중앙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30936" y="2956016"/>
            <a:ext cx="3429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서비스 API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630936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630936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630936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30936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예약·오더·결제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1858519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1858518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858518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1858500" y="3222380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고객 정보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3086100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3086100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3086100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3067800" y="322012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인사·급여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1" name="Google Shape;441;p15"/>
          <p:cNvGrpSpPr/>
          <p:nvPr/>
        </p:nvGrpSpPr>
        <p:grpSpPr>
          <a:xfrm>
            <a:off x="5364904" y="2525478"/>
            <a:ext cx="614707" cy="405297"/>
            <a:chOff x="4313682" y="3068364"/>
            <a:chExt cx="1069800" cy="470400"/>
          </a:xfrm>
        </p:grpSpPr>
        <p:sp>
          <p:nvSpPr>
            <p:cNvPr id="442" name="Google Shape;442;p15"/>
            <p:cNvSpPr/>
            <p:nvPr/>
          </p:nvSpPr>
          <p:spPr>
            <a:xfrm>
              <a:off x="4313682" y="3068364"/>
              <a:ext cx="1069800" cy="470400"/>
            </a:xfrm>
            <a:prstGeom prst="roundRect">
              <a:avLst>
                <a:gd fmla="val 10345" name="adj"/>
              </a:avLst>
            </a:prstGeom>
            <a:solidFill>
              <a:srgbClr val="D5EFE6"/>
            </a:solidFill>
            <a:ln cap="flat" cmpd="sng" w="807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4313682" y="3211378"/>
              <a:ext cx="1069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QR 체크인 전용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5"/>
          <p:cNvSpPr/>
          <p:nvPr/>
        </p:nvSpPr>
        <p:spPr>
          <a:xfrm>
            <a:off x="5364848" y="2511475"/>
            <a:ext cx="6036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364860" y="2514038"/>
            <a:ext cx="614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CheckIn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" name="Google Shape;446;p15"/>
          <p:cNvGrpSpPr/>
          <p:nvPr/>
        </p:nvGrpSpPr>
        <p:grpSpPr>
          <a:xfrm>
            <a:off x="6289635" y="2040153"/>
            <a:ext cx="574483" cy="339864"/>
            <a:chOff x="5541264" y="3068364"/>
            <a:chExt cx="1069800" cy="470400"/>
          </a:xfrm>
        </p:grpSpPr>
        <p:sp>
          <p:nvSpPr>
            <p:cNvPr id="447" name="Google Shape;447;p15"/>
            <p:cNvSpPr/>
            <p:nvPr/>
          </p:nvSpPr>
          <p:spPr>
            <a:xfrm>
              <a:off x="5541264" y="3068364"/>
              <a:ext cx="1069800" cy="470400"/>
            </a:xfrm>
            <a:prstGeom prst="roundRect">
              <a:avLst>
                <a:gd fmla="val 10345" name="adj"/>
              </a:avLst>
            </a:prstGeom>
            <a:solidFill>
              <a:srgbClr val="D5EFE6"/>
            </a:solidFill>
            <a:ln cap="flat" cmpd="sng" w="807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5541264" y="3230544"/>
              <a:ext cx="1069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게시판 백엔드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5"/>
          <p:cNvSpPr/>
          <p:nvPr/>
        </p:nvSpPr>
        <p:spPr>
          <a:xfrm>
            <a:off x="6295870" y="2040075"/>
            <a:ext cx="5622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295875" y="2040088"/>
            <a:ext cx="562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Board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768846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6768846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768846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Report 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768846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OZ Report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7996428" y="906221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7996428" y="903505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996428" y="903505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 배치서버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7974434" y="1068401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BAT-01 WEB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" name="Google Shape;459;p15"/>
          <p:cNvGrpSpPr/>
          <p:nvPr/>
        </p:nvGrpSpPr>
        <p:grpSpPr>
          <a:xfrm>
            <a:off x="6924667" y="2164000"/>
            <a:ext cx="731720" cy="194700"/>
            <a:chOff x="7467046" y="2221166"/>
            <a:chExt cx="1599039" cy="194700"/>
          </a:xfrm>
        </p:grpSpPr>
        <p:sp>
          <p:nvSpPr>
            <p:cNvPr id="460" name="Google Shape;460;p15"/>
            <p:cNvSpPr/>
            <p:nvPr/>
          </p:nvSpPr>
          <p:spPr>
            <a:xfrm>
              <a:off x="7467046" y="2221166"/>
              <a:ext cx="1577100" cy="194700"/>
            </a:xfrm>
            <a:prstGeom prst="roundRect">
              <a:avLst>
                <a:gd fmla="val 25000" name="adj"/>
              </a:avLst>
            </a:prstGeom>
            <a:solidFill>
              <a:srgbClr val="D5EFE6"/>
            </a:solidFill>
            <a:ln cap="flat" cmpd="sng" w="807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7488985" y="2293769"/>
              <a:ext cx="15771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Kafka Consumer → Push/SMS/카카오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" name="Google Shape;462;p15"/>
          <p:cNvSpPr/>
          <p:nvPr/>
        </p:nvSpPr>
        <p:spPr>
          <a:xfrm>
            <a:off x="6924682" y="2040088"/>
            <a:ext cx="7317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6924675" y="2015938"/>
            <a:ext cx="710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Noti API_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2048700" y="1108979"/>
            <a:ext cx="4938000" cy="275700"/>
          </a:xfrm>
          <a:prstGeom prst="roundRect">
            <a:avLst>
              <a:gd fmla="val 15000" name="adj"/>
            </a:avLst>
          </a:prstGeom>
          <a:solidFill>
            <a:srgbClr val="FEF0C8"/>
          </a:solidFill>
          <a:ln cap="flat" cmpd="sng" w="1212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2048700" y="1126026"/>
            <a:ext cx="4938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⚡  Kafka  —  예약 · 결제 · 체크인 이벤트 브로커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30957" y="1386475"/>
            <a:ext cx="1577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MGMT / 보안 관리 서버 (DMZ)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p15"/>
          <p:cNvGrpSpPr/>
          <p:nvPr/>
        </p:nvGrpSpPr>
        <p:grpSpPr>
          <a:xfrm>
            <a:off x="4691273" y="2577187"/>
            <a:ext cx="614769" cy="356349"/>
            <a:chOff x="630936" y="1421450"/>
            <a:chExt cx="1621225" cy="440917"/>
          </a:xfrm>
        </p:grpSpPr>
        <p:sp>
          <p:nvSpPr>
            <p:cNvPr id="468" name="Google Shape;468;p15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807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15"/>
          <p:cNvSpPr/>
          <p:nvPr/>
        </p:nvSpPr>
        <p:spPr>
          <a:xfrm>
            <a:off x="2334464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2334464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2334464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MOTR 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2334464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 HDD20GB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4037990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4037990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4037990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시스템 접근제어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(HIWARE)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4037990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1000GB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5741518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5741518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741518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백업관리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(Acronis)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5741518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20/100GB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7445045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7445045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7445045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DB암호화관리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(Petra)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7445045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600GB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5911596" y="1846155"/>
            <a:ext cx="3086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─── DMZ / Private VPC 경계 ───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30936" y="3512613"/>
            <a:ext cx="34290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DB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30936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630936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630936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30936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M/S HA구성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2772600" y="3662525"/>
            <a:ext cx="574500" cy="3564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2772597" y="3662525"/>
            <a:ext cx="5745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2772600" y="3662525"/>
            <a:ext cx="603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2772600" y="3824700"/>
            <a:ext cx="574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2vC/4MEM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3843419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3843419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3843419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3843419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4914247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4914247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4914247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4914247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분석/DW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5985075" y="3662525"/>
            <a:ext cx="939600" cy="3399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5985074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5985087" y="3677964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고객앱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5985075" y="3814450"/>
            <a:ext cx="9396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7055902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7055902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7055902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통합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7055902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통합고객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2009750" y="3659075"/>
            <a:ext cx="731700" cy="3567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2009776" y="3659075"/>
            <a:ext cx="7317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2009751" y="3659150"/>
            <a:ext cx="731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2009775" y="3821325"/>
            <a:ext cx="7317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게시판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630936" y="4239796"/>
            <a:ext cx="48006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데이터 / 배치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630936" y="4363107"/>
            <a:ext cx="18519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630936" y="4363107"/>
            <a:ext cx="18519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630936" y="4363107"/>
            <a:ext cx="1851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⏱️ AirFlow - Batch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30936" y="4525287"/>
            <a:ext cx="18519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자정 배치 | J-Salon/J-Works DB R/W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2585466" y="4363107"/>
            <a:ext cx="17145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2585466" y="4363107"/>
            <a:ext cx="17145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2585466" y="4363107"/>
            <a:ext cx="171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AirFlow - ETL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2585466" y="4525287"/>
            <a:ext cx="1714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POS/J-Salon DB → 분석 DB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4402836" y="4363107"/>
            <a:ext cx="14403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4402836" y="4363107"/>
            <a:ext cx="14403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4402836" y="4363107"/>
            <a:ext cx="1440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Jenkins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4402836" y="4525287"/>
            <a:ext cx="1440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CI/CD | Vault AppRole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41148" y="4930666"/>
            <a:ext cx="9039000" cy="210600"/>
          </a:xfrm>
          <a:prstGeom prst="rect">
            <a:avLst/>
          </a:prstGeom>
          <a:solidFill>
            <a:srgbClr val="FFFFFF"/>
          </a:solidFill>
          <a:ln cap="flat" cmpd="sng" w="757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356616" y="5003646"/>
            <a:ext cx="82500" cy="97500"/>
          </a:xfrm>
          <a:prstGeom prst="ellipse">
            <a:avLst/>
          </a:prstGeom>
          <a:solidFill>
            <a:srgbClr val="1D6FD8"/>
          </a:solidFill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459486" y="4971210"/>
            <a:ext cx="1062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 API 호출 (동기)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1796796" y="5003646"/>
            <a:ext cx="82500" cy="97500"/>
          </a:xfrm>
          <a:prstGeom prst="ellipse">
            <a:avLst/>
          </a:prstGeom>
          <a:solidFill>
            <a:srgbClr val="C07010"/>
          </a:solidFill>
          <a:ln cap="flat" cmpd="sng" w="10100">
            <a:solidFill>
              <a:srgbClr val="C07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1899666" y="4971210"/>
            <a:ext cx="1268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Kafka 이벤트 (비동기)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3442716" y="5003646"/>
            <a:ext cx="82500" cy="97500"/>
          </a:xfrm>
          <a:prstGeom prst="ellipse">
            <a:avLst/>
          </a:prstGeom>
          <a:solidFill>
            <a:srgbClr val="0A7040"/>
          </a:solidFill>
          <a:ln cap="flat" cmpd="sng" w="10100">
            <a:solidFill>
              <a:srgbClr val="0A7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3545586" y="4971210"/>
            <a:ext cx="960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 직접 접근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780026" y="5003646"/>
            <a:ext cx="82500" cy="97500"/>
          </a:xfrm>
          <a:prstGeom prst="ellipse">
            <a:avLst/>
          </a:prstGeom>
          <a:solidFill>
            <a:srgbClr val="7733CC"/>
          </a:solidFill>
          <a:ln cap="flat" cmpd="sng" w="10100">
            <a:solidFill>
              <a:srgbClr val="77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4882896" y="4971210"/>
            <a:ext cx="89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JWT 검증 흐름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6048756" y="5003646"/>
            <a:ext cx="82500" cy="97500"/>
          </a:xfrm>
          <a:prstGeom prst="ellipse">
            <a:avLst/>
          </a:prstGeom>
          <a:solidFill>
            <a:srgbClr val="777777"/>
          </a:solidFill>
          <a:ln cap="flat" cmpd="sng" w="101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6151626" y="4971210"/>
            <a:ext cx="960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Vault Secret 연동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7386066" y="5003646"/>
            <a:ext cx="82500" cy="97500"/>
          </a:xfrm>
          <a:prstGeom prst="ellipse">
            <a:avLst/>
          </a:prstGeom>
          <a:solidFill>
            <a:srgbClr val="CC1111"/>
          </a:solidFill>
          <a:ln cap="flat" cmpd="sng" w="10100">
            <a:solidFill>
              <a:srgbClr val="CC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7488936" y="4971210"/>
            <a:ext cx="925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⚠️ 보안이슈 경로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15"/>
          <p:cNvCxnSpPr>
            <a:stCxn id="382" idx="2"/>
            <a:endCxn id="465" idx="0"/>
          </p:cNvCxnSpPr>
          <p:nvPr/>
        </p:nvCxnSpPr>
        <p:spPr>
          <a:xfrm>
            <a:off x="1152149" y="753319"/>
            <a:ext cx="3365700" cy="372600"/>
          </a:xfrm>
          <a:prstGeom prst="straightConnector1">
            <a:avLst/>
          </a:prstGeom>
          <a:noFill/>
          <a:ln cap="flat" cmpd="sng" w="2020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43" name="Google Shape;543;p15"/>
          <p:cNvCxnSpPr>
            <a:stCxn id="408" idx="2"/>
            <a:endCxn id="544" idx="0"/>
          </p:cNvCxnSpPr>
          <p:nvPr/>
        </p:nvCxnSpPr>
        <p:spPr>
          <a:xfrm flipH="1">
            <a:off x="4202565" y="753310"/>
            <a:ext cx="3110400" cy="1768800"/>
          </a:xfrm>
          <a:prstGeom prst="straightConnector1">
            <a:avLst/>
          </a:prstGeom>
          <a:noFill/>
          <a:ln cap="flat" cmpd="sng" w="18175">
            <a:solidFill>
              <a:srgbClr val="CC111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45" name="Google Shape;545;p15"/>
          <p:cNvCxnSpPr/>
          <p:nvPr/>
        </p:nvCxnSpPr>
        <p:spPr>
          <a:xfrm>
            <a:off x="1419606" y="2913881"/>
            <a:ext cx="1577100" cy="300"/>
          </a:xfrm>
          <a:prstGeom prst="straightConnector1">
            <a:avLst/>
          </a:prstGeom>
          <a:noFill/>
          <a:ln cap="flat" cmpd="sng" w="14150">
            <a:solidFill>
              <a:srgbClr val="7733CC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546" name="Google Shape;546;p15"/>
          <p:cNvCxnSpPr/>
          <p:nvPr/>
        </p:nvCxnSpPr>
        <p:spPr>
          <a:xfrm>
            <a:off x="1419606" y="2913881"/>
            <a:ext cx="6858000" cy="3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547" name="Google Shape;547;p15"/>
          <p:cNvCxnSpPr/>
          <p:nvPr/>
        </p:nvCxnSpPr>
        <p:spPr>
          <a:xfrm flipH="1">
            <a:off x="1419516" y="2913881"/>
            <a:ext cx="3051900" cy="300"/>
          </a:xfrm>
          <a:prstGeom prst="straightConnector1">
            <a:avLst/>
          </a:prstGeom>
          <a:noFill/>
          <a:ln cap="flat" cmpd="sng" w="10100">
            <a:solidFill>
              <a:srgbClr val="7733CC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548" name="Google Shape;548;p15"/>
          <p:cNvCxnSpPr/>
          <p:nvPr/>
        </p:nvCxnSpPr>
        <p:spPr>
          <a:xfrm flipH="1">
            <a:off x="1100460" y="3538685"/>
            <a:ext cx="654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49" name="Google Shape;549;p15"/>
          <p:cNvCxnSpPr/>
          <p:nvPr/>
        </p:nvCxnSpPr>
        <p:spPr>
          <a:xfrm flipH="1">
            <a:off x="3242424" y="3538685"/>
            <a:ext cx="3786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0" name="Google Shape;550;p15"/>
          <p:cNvCxnSpPr>
            <a:stCxn id="448" idx="2"/>
            <a:endCxn id="514" idx="0"/>
          </p:cNvCxnSpPr>
          <p:nvPr/>
        </p:nvCxnSpPr>
        <p:spPr>
          <a:xfrm flipH="1">
            <a:off x="2375676" y="2379930"/>
            <a:ext cx="4201200" cy="12792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1" name="Google Shape;551;p15"/>
          <p:cNvCxnSpPr>
            <a:stCxn id="423" idx="2"/>
          </p:cNvCxnSpPr>
          <p:nvPr/>
        </p:nvCxnSpPr>
        <p:spPr>
          <a:xfrm>
            <a:off x="4202421" y="2974850"/>
            <a:ext cx="3054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2" name="Google Shape;552;p15"/>
          <p:cNvCxnSpPr/>
          <p:nvPr/>
        </p:nvCxnSpPr>
        <p:spPr>
          <a:xfrm rot="10800000">
            <a:off x="4554606" y="1378385"/>
            <a:ext cx="294000" cy="2160300"/>
          </a:xfrm>
          <a:prstGeom prst="straightConnector1">
            <a:avLst/>
          </a:prstGeom>
          <a:noFill/>
          <a:ln cap="flat" cmpd="sng" w="1415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3" name="Google Shape;553;p15"/>
          <p:cNvCxnSpPr/>
          <p:nvPr/>
        </p:nvCxnSpPr>
        <p:spPr>
          <a:xfrm flipH="1">
            <a:off x="1100706" y="3535660"/>
            <a:ext cx="3747900" cy="123600"/>
          </a:xfrm>
          <a:prstGeom prst="straightConnector1">
            <a:avLst/>
          </a:prstGeom>
          <a:noFill/>
          <a:ln cap="flat" cmpd="sng" w="11150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4" name="Google Shape;554;p15"/>
          <p:cNvCxnSpPr>
            <a:endCxn id="463" idx="0"/>
          </p:cNvCxnSpPr>
          <p:nvPr/>
        </p:nvCxnSpPr>
        <p:spPr>
          <a:xfrm>
            <a:off x="3543825" y="1349638"/>
            <a:ext cx="3736200" cy="666300"/>
          </a:xfrm>
          <a:prstGeom prst="straightConnector1">
            <a:avLst/>
          </a:prstGeom>
          <a:noFill/>
          <a:ln cap="flat" cmpd="sng" w="13125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5" name="Google Shape;555;p15"/>
          <p:cNvCxnSpPr>
            <a:endCxn id="495" idx="2"/>
          </p:cNvCxnSpPr>
          <p:nvPr/>
        </p:nvCxnSpPr>
        <p:spPr>
          <a:xfrm flipH="1" rot="10800000">
            <a:off x="1556850" y="4002300"/>
            <a:ext cx="1503000" cy="3609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6" name="Google Shape;556;p15"/>
          <p:cNvCxnSpPr/>
          <p:nvPr/>
        </p:nvCxnSpPr>
        <p:spPr>
          <a:xfrm rot="10800000">
            <a:off x="1100616" y="4181307"/>
            <a:ext cx="23421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7" name="Google Shape;557;p15"/>
          <p:cNvCxnSpPr/>
          <p:nvPr/>
        </p:nvCxnSpPr>
        <p:spPr>
          <a:xfrm flipH="1" rot="10800000">
            <a:off x="3442716" y="4181307"/>
            <a:ext cx="19413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8" name="Google Shape;558;p15"/>
          <p:cNvCxnSpPr/>
          <p:nvPr/>
        </p:nvCxnSpPr>
        <p:spPr>
          <a:xfrm flipH="1" rot="10800000">
            <a:off x="5122926" y="2914107"/>
            <a:ext cx="3154800" cy="14490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559" name="Google Shape;559;p15"/>
          <p:cNvCxnSpPr/>
          <p:nvPr/>
        </p:nvCxnSpPr>
        <p:spPr>
          <a:xfrm>
            <a:off x="9601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15"/>
          <p:cNvCxnSpPr/>
          <p:nvPr/>
        </p:nvCxnSpPr>
        <p:spPr>
          <a:xfrm>
            <a:off x="153619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C0701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1" name="Google Shape;561;p15"/>
          <p:cNvCxnSpPr/>
          <p:nvPr/>
        </p:nvCxnSpPr>
        <p:spPr>
          <a:xfrm>
            <a:off x="318211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0A704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2" name="Google Shape;562;p15"/>
          <p:cNvCxnSpPr/>
          <p:nvPr/>
        </p:nvCxnSpPr>
        <p:spPr>
          <a:xfrm>
            <a:off x="451942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7733C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63" name="Google Shape;563;p15"/>
          <p:cNvCxnSpPr/>
          <p:nvPr/>
        </p:nvCxnSpPr>
        <p:spPr>
          <a:xfrm>
            <a:off x="578815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77777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64" name="Google Shape;564;p15"/>
          <p:cNvCxnSpPr/>
          <p:nvPr/>
        </p:nvCxnSpPr>
        <p:spPr>
          <a:xfrm>
            <a:off x="712546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CC111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5" name="Google Shape;565;p15"/>
          <p:cNvCxnSpPr/>
          <p:nvPr/>
        </p:nvCxnSpPr>
        <p:spPr>
          <a:xfrm>
            <a:off x="41148" y="1946608"/>
            <a:ext cx="9039000" cy="8100"/>
          </a:xfrm>
          <a:prstGeom prst="straightConnector1">
            <a:avLst/>
          </a:prstGeom>
          <a:noFill/>
          <a:ln cap="flat" cmpd="sng" w="22225">
            <a:solidFill>
              <a:srgbClr val="B83A1E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6" name="Google Shape;566;p15"/>
          <p:cNvCxnSpPr>
            <a:stCxn id="448" idx="2"/>
            <a:endCxn id="426" idx="0"/>
          </p:cNvCxnSpPr>
          <p:nvPr/>
        </p:nvCxnSpPr>
        <p:spPr>
          <a:xfrm>
            <a:off x="6576876" y="2379930"/>
            <a:ext cx="1700700" cy="147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67" name="Google Shape;567;p15"/>
          <p:cNvCxnSpPr>
            <a:stCxn id="448" idx="2"/>
          </p:cNvCxnSpPr>
          <p:nvPr/>
        </p:nvCxnSpPr>
        <p:spPr>
          <a:xfrm flipH="1">
            <a:off x="1601376" y="2379930"/>
            <a:ext cx="49755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68" name="Google Shape;568;p15"/>
          <p:cNvCxnSpPr>
            <a:stCxn id="423" idx="2"/>
          </p:cNvCxnSpPr>
          <p:nvPr/>
        </p:nvCxnSpPr>
        <p:spPr>
          <a:xfrm>
            <a:off x="4202421" y="2974850"/>
            <a:ext cx="3054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69" name="Google Shape;569;p15"/>
          <p:cNvCxnSpPr>
            <a:stCxn id="423" idx="2"/>
          </p:cNvCxnSpPr>
          <p:nvPr/>
        </p:nvCxnSpPr>
        <p:spPr>
          <a:xfrm flipH="1">
            <a:off x="831621" y="2974850"/>
            <a:ext cx="33708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0" name="Google Shape;570;p15"/>
          <p:cNvCxnSpPr/>
          <p:nvPr/>
        </p:nvCxnSpPr>
        <p:spPr>
          <a:xfrm>
            <a:off x="1422450" y="2962656"/>
            <a:ext cx="1820100" cy="6999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1" name="Google Shape;571;p15"/>
          <p:cNvCxnSpPr/>
          <p:nvPr/>
        </p:nvCxnSpPr>
        <p:spPr>
          <a:xfrm>
            <a:off x="1400700" y="2947226"/>
            <a:ext cx="2912400" cy="7155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2" name="Google Shape;572;p15"/>
          <p:cNvCxnSpPr/>
          <p:nvPr/>
        </p:nvCxnSpPr>
        <p:spPr>
          <a:xfrm flipH="1">
            <a:off x="1100700" y="3523298"/>
            <a:ext cx="2527200" cy="1392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3" name="Google Shape;573;p15"/>
          <p:cNvCxnSpPr/>
          <p:nvPr/>
        </p:nvCxnSpPr>
        <p:spPr>
          <a:xfrm flipH="1">
            <a:off x="3242400" y="3528441"/>
            <a:ext cx="385500" cy="1341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4" name="Google Shape;574;p15"/>
          <p:cNvCxnSpPr/>
          <p:nvPr/>
        </p:nvCxnSpPr>
        <p:spPr>
          <a:xfrm>
            <a:off x="3623550" y="3518154"/>
            <a:ext cx="689700" cy="144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5" name="Google Shape;575;p15"/>
          <p:cNvCxnSpPr>
            <a:stCxn id="487" idx="0"/>
          </p:cNvCxnSpPr>
          <p:nvPr/>
        </p:nvCxnSpPr>
        <p:spPr>
          <a:xfrm flipH="1">
            <a:off x="1100736" y="3512613"/>
            <a:ext cx="12447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6" name="Google Shape;576;p15"/>
          <p:cNvCxnSpPr>
            <a:stCxn id="487" idx="0"/>
          </p:cNvCxnSpPr>
          <p:nvPr/>
        </p:nvCxnSpPr>
        <p:spPr>
          <a:xfrm>
            <a:off x="2345436" y="3512613"/>
            <a:ext cx="8970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77" name="Google Shape;577;p15"/>
          <p:cNvCxnSpPr>
            <a:stCxn id="487" idx="0"/>
          </p:cNvCxnSpPr>
          <p:nvPr/>
        </p:nvCxnSpPr>
        <p:spPr>
          <a:xfrm>
            <a:off x="2345436" y="3512613"/>
            <a:ext cx="1968000" cy="14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578" name="Google Shape;578;p15"/>
          <p:cNvSpPr/>
          <p:nvPr/>
        </p:nvSpPr>
        <p:spPr>
          <a:xfrm>
            <a:off x="2098275" y="2070450"/>
            <a:ext cx="2998800" cy="177600"/>
          </a:xfrm>
          <a:prstGeom prst="roundRect">
            <a:avLst>
              <a:gd fmla="val 0" name="adj"/>
            </a:avLst>
          </a:prstGeom>
          <a:solidFill>
            <a:srgbClr val="D5D0F5"/>
          </a:solidFill>
          <a:ln cap="flat" cmpd="sng" w="18175">
            <a:solidFill>
              <a:srgbClr val="5B4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750" spcFirstLastPara="1" rIns="727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2E1A6E"/>
                </a:solidFill>
                <a:latin typeface="Calibri"/>
                <a:ea typeface="Calibri"/>
                <a:cs typeface="Calibri"/>
                <a:sym typeface="Calibri"/>
              </a:rPr>
              <a:t>🛡️ JUNO API Gateway  :9000     </a:t>
            </a:r>
            <a:r>
              <a:rPr b="0" i="0" lang="ko" sz="700" u="none" cap="none" strike="noStrike">
                <a:solidFill>
                  <a:srgbClr val="4B3B8C"/>
                </a:solidFill>
                <a:latin typeface="Calibri"/>
                <a:ea typeface="Calibri"/>
                <a:cs typeface="Calibri"/>
                <a:sym typeface="Calibri"/>
              </a:rPr>
              <a:t>Auth · Routing · Rate Limit · Logging</a:t>
            </a:r>
            <a:endParaRPr sz="1100"/>
          </a:p>
        </p:txBody>
      </p:sp>
      <p:cxnSp>
        <p:nvCxnSpPr>
          <p:cNvPr id="579" name="Google Shape;579;p15"/>
          <p:cNvCxnSpPr>
            <a:stCxn id="382" idx="2"/>
          </p:cNvCxnSpPr>
          <p:nvPr/>
        </p:nvCxnSpPr>
        <p:spPr>
          <a:xfrm>
            <a:off x="1152149" y="753319"/>
            <a:ext cx="2676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0" name="Google Shape;580;p15"/>
          <p:cNvCxnSpPr>
            <a:stCxn id="382" idx="2"/>
          </p:cNvCxnSpPr>
          <p:nvPr/>
        </p:nvCxnSpPr>
        <p:spPr>
          <a:xfrm>
            <a:off x="1152149" y="753319"/>
            <a:ext cx="18447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1" name="Google Shape;581;p15"/>
          <p:cNvCxnSpPr>
            <a:stCxn id="382" idx="2"/>
          </p:cNvCxnSpPr>
          <p:nvPr/>
        </p:nvCxnSpPr>
        <p:spPr>
          <a:xfrm>
            <a:off x="1152149" y="753319"/>
            <a:ext cx="3319200" cy="17739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2" name="Google Shape;582;p15"/>
          <p:cNvCxnSpPr>
            <a:stCxn id="382" idx="2"/>
          </p:cNvCxnSpPr>
          <p:nvPr/>
        </p:nvCxnSpPr>
        <p:spPr>
          <a:xfrm>
            <a:off x="1152149" y="753319"/>
            <a:ext cx="13800" cy="23151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3" name="Google Shape;583;p15"/>
          <p:cNvCxnSpPr>
            <a:stCxn id="388" idx="2"/>
            <a:endCxn id="578" idx="0"/>
          </p:cNvCxnSpPr>
          <p:nvPr/>
        </p:nvCxnSpPr>
        <p:spPr>
          <a:xfrm>
            <a:off x="2384312" y="753318"/>
            <a:ext cx="12135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4" name="Google Shape;584;p15"/>
          <p:cNvCxnSpPr>
            <a:stCxn id="393" idx="2"/>
            <a:endCxn id="578" idx="0"/>
          </p:cNvCxnSpPr>
          <p:nvPr/>
        </p:nvCxnSpPr>
        <p:spPr>
          <a:xfrm flipH="1">
            <a:off x="3597594" y="753288"/>
            <a:ext cx="18900" cy="13173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5" name="Google Shape;585;p15"/>
          <p:cNvCxnSpPr>
            <a:stCxn id="398" idx="2"/>
            <a:endCxn id="578" idx="0"/>
          </p:cNvCxnSpPr>
          <p:nvPr/>
        </p:nvCxnSpPr>
        <p:spPr>
          <a:xfrm flipH="1">
            <a:off x="3597648" y="749730"/>
            <a:ext cx="1251000" cy="13206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6" name="Google Shape;586;p15"/>
          <p:cNvCxnSpPr>
            <a:stCxn id="403" idx="2"/>
            <a:endCxn id="578" idx="0"/>
          </p:cNvCxnSpPr>
          <p:nvPr/>
        </p:nvCxnSpPr>
        <p:spPr>
          <a:xfrm flipH="1">
            <a:off x="3597711" y="753332"/>
            <a:ext cx="24831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7" name="Google Shape;587;p15"/>
          <p:cNvCxnSpPr>
            <a:stCxn id="408" idx="2"/>
            <a:endCxn id="578" idx="0"/>
          </p:cNvCxnSpPr>
          <p:nvPr/>
        </p:nvCxnSpPr>
        <p:spPr>
          <a:xfrm flipH="1">
            <a:off x="3597765" y="753310"/>
            <a:ext cx="3715200" cy="13170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8" name="Google Shape;588;p15"/>
          <p:cNvCxnSpPr>
            <a:stCxn id="578" idx="2"/>
            <a:endCxn id="416" idx="0"/>
          </p:cNvCxnSpPr>
          <p:nvPr/>
        </p:nvCxnSpPr>
        <p:spPr>
          <a:xfrm flipH="1">
            <a:off x="1419375" y="2248050"/>
            <a:ext cx="2178300" cy="2793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9" name="Google Shape;589;p15"/>
          <p:cNvCxnSpPr/>
          <p:nvPr/>
        </p:nvCxnSpPr>
        <p:spPr>
          <a:xfrm flipH="1">
            <a:off x="2989725" y="1048808"/>
            <a:ext cx="3292500" cy="1483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0" name="Google Shape;590;p15"/>
          <p:cNvCxnSpPr>
            <a:stCxn id="578" idx="2"/>
            <a:endCxn id="544" idx="0"/>
          </p:cNvCxnSpPr>
          <p:nvPr/>
        </p:nvCxnSpPr>
        <p:spPr>
          <a:xfrm>
            <a:off x="3597675" y="2248050"/>
            <a:ext cx="604800" cy="274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1" name="Google Shape;591;p15"/>
          <p:cNvCxnSpPr>
            <a:stCxn id="578" idx="2"/>
            <a:endCxn id="431" idx="0"/>
          </p:cNvCxnSpPr>
          <p:nvPr/>
        </p:nvCxnSpPr>
        <p:spPr>
          <a:xfrm flipH="1">
            <a:off x="1165875" y="2248050"/>
            <a:ext cx="24318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2" name="Google Shape;592;p15"/>
          <p:cNvCxnSpPr>
            <a:stCxn id="578" idx="2"/>
            <a:endCxn id="435" idx="0"/>
          </p:cNvCxnSpPr>
          <p:nvPr/>
        </p:nvCxnSpPr>
        <p:spPr>
          <a:xfrm flipH="1">
            <a:off x="2393475" y="2248050"/>
            <a:ext cx="12042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3" name="Google Shape;593;p15"/>
          <p:cNvCxnSpPr>
            <a:stCxn id="578" idx="2"/>
            <a:endCxn id="439" idx="0"/>
          </p:cNvCxnSpPr>
          <p:nvPr/>
        </p:nvCxnSpPr>
        <p:spPr>
          <a:xfrm>
            <a:off x="3597675" y="2248050"/>
            <a:ext cx="23400" cy="8202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4" name="Google Shape;594;p15"/>
          <p:cNvCxnSpPr>
            <a:stCxn id="578" idx="2"/>
            <a:endCxn id="445" idx="0"/>
          </p:cNvCxnSpPr>
          <p:nvPr/>
        </p:nvCxnSpPr>
        <p:spPr>
          <a:xfrm>
            <a:off x="3597675" y="2248050"/>
            <a:ext cx="2074500" cy="2661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15"/>
          <p:cNvCxnSpPr>
            <a:stCxn id="578" idx="2"/>
            <a:endCxn id="450" idx="0"/>
          </p:cNvCxnSpPr>
          <p:nvPr/>
        </p:nvCxnSpPr>
        <p:spPr>
          <a:xfrm flipH="1" rot="10800000">
            <a:off x="3597675" y="2040150"/>
            <a:ext cx="2979300" cy="207900"/>
          </a:xfrm>
          <a:prstGeom prst="straightConnector1">
            <a:avLst/>
          </a:prstGeom>
          <a:noFill/>
          <a:ln cap="flat" cmpd="sng" w="103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96" name="Google Shape;596;p15"/>
          <p:cNvSpPr/>
          <p:nvPr/>
        </p:nvSpPr>
        <p:spPr>
          <a:xfrm>
            <a:off x="627500" y="2485000"/>
            <a:ext cx="3086100" cy="4965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4691250" y="2522188"/>
            <a:ext cx="6147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4691313" y="2527125"/>
            <a:ext cx="6147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(고객앱)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3799375" y="2526563"/>
            <a:ext cx="833100" cy="162300"/>
          </a:xfrm>
          <a:prstGeom prst="rect">
            <a:avLst/>
          </a:prstGeom>
          <a:solidFill>
            <a:srgbClr val="534AB7"/>
          </a:solidFill>
          <a:ln cap="flat" cmpd="sng" w="75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3809425" y="2522188"/>
            <a:ext cx="78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통합 고객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3771350" y="2485425"/>
            <a:ext cx="2250000" cy="4965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6258900" y="2013100"/>
            <a:ext cx="1397400" cy="3729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2" name="Google Shape;602;p15"/>
          <p:cNvGrpSpPr/>
          <p:nvPr/>
        </p:nvGrpSpPr>
        <p:grpSpPr>
          <a:xfrm>
            <a:off x="6176948" y="2570462"/>
            <a:ext cx="614769" cy="356349"/>
            <a:chOff x="630936" y="1421450"/>
            <a:chExt cx="1621225" cy="440917"/>
          </a:xfrm>
        </p:grpSpPr>
        <p:sp>
          <p:nvSpPr>
            <p:cNvPr id="603" name="Google Shape;603;p15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807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5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15"/>
          <p:cNvSpPr/>
          <p:nvPr/>
        </p:nvSpPr>
        <p:spPr>
          <a:xfrm>
            <a:off x="6176925" y="2565788"/>
            <a:ext cx="6147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196825" y="2569400"/>
            <a:ext cx="6147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(준오랑)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5985075" y="4059899"/>
            <a:ext cx="939600" cy="3081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5979725" y="4211575"/>
            <a:ext cx="9396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5985087" y="4036952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979712" y="404727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준오랑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5965250" y="3642625"/>
            <a:ext cx="986700" cy="7602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1998325" y="3627788"/>
            <a:ext cx="1371600" cy="405300"/>
          </a:xfrm>
          <a:prstGeom prst="frame">
            <a:avLst>
              <a:gd fmla="val 2526" name="adj1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936850" y="856500"/>
            <a:ext cx="2998800" cy="177600"/>
          </a:xfrm>
          <a:prstGeom prst="roundRect">
            <a:avLst>
              <a:gd fmla="val 0" name="adj"/>
            </a:avLst>
          </a:prstGeom>
          <a:solidFill>
            <a:srgbClr val="D5D0F5"/>
          </a:solidFill>
          <a:ln cap="flat" cmpd="sng" w="18175">
            <a:solidFill>
              <a:srgbClr val="5B4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750" spcFirstLastPara="1" rIns="727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ko" sz="900">
                <a:solidFill>
                  <a:srgbClr val="2E1A6E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b="1" i="0" lang="ko" sz="900" u="none" cap="none" strike="noStrike">
                <a:solidFill>
                  <a:srgbClr val="2E1A6E"/>
                </a:solidFill>
                <a:latin typeface="Calibri"/>
                <a:ea typeface="Calibri"/>
                <a:cs typeface="Calibri"/>
                <a:sym typeface="Calibri"/>
              </a:rPr>
              <a:t> API Gateway  :19000     </a:t>
            </a:r>
            <a:r>
              <a:rPr lang="ko" sz="700">
                <a:solidFill>
                  <a:srgbClr val="4B3B8C"/>
                </a:solidFill>
                <a:latin typeface="Calibri"/>
                <a:ea typeface="Calibri"/>
                <a:cs typeface="Calibri"/>
                <a:sym typeface="Calibri"/>
              </a:rPr>
              <a:t>외부 API 호출 Routing</a:t>
            </a:r>
            <a:endParaRPr sz="1100"/>
          </a:p>
        </p:txBody>
      </p:sp>
      <p:cxnSp>
        <p:nvCxnSpPr>
          <p:cNvPr id="614" name="Google Shape;614;p15"/>
          <p:cNvCxnSpPr>
            <a:stCxn id="435" idx="0"/>
            <a:endCxn id="613" idx="2"/>
          </p:cNvCxnSpPr>
          <p:nvPr/>
        </p:nvCxnSpPr>
        <p:spPr>
          <a:xfrm flipH="1" rot="10800000">
            <a:off x="2393418" y="1034064"/>
            <a:ext cx="40428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5" name="Google Shape;615;p15"/>
          <p:cNvCxnSpPr>
            <a:stCxn id="439" idx="0"/>
            <a:endCxn id="613" idx="2"/>
          </p:cNvCxnSpPr>
          <p:nvPr/>
        </p:nvCxnSpPr>
        <p:spPr>
          <a:xfrm flipH="1" rot="10800000">
            <a:off x="3621000" y="1034064"/>
            <a:ext cx="28152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6" name="Google Shape;616;p15"/>
          <p:cNvCxnSpPr>
            <a:stCxn id="544" idx="0"/>
            <a:endCxn id="613" idx="2"/>
          </p:cNvCxnSpPr>
          <p:nvPr/>
        </p:nvCxnSpPr>
        <p:spPr>
          <a:xfrm flipH="1" rot="10800000">
            <a:off x="4202425" y="1034188"/>
            <a:ext cx="2233800" cy="14880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7" name="Google Shape;617;p15"/>
          <p:cNvCxnSpPr>
            <a:stCxn id="598" idx="0"/>
            <a:endCxn id="613" idx="2"/>
          </p:cNvCxnSpPr>
          <p:nvPr/>
        </p:nvCxnSpPr>
        <p:spPr>
          <a:xfrm flipH="1" rot="10800000">
            <a:off x="4998663" y="1034025"/>
            <a:ext cx="1437600" cy="14931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8" name="Google Shape;618;p15"/>
          <p:cNvCxnSpPr>
            <a:stCxn id="606" idx="0"/>
            <a:endCxn id="613" idx="2"/>
          </p:cNvCxnSpPr>
          <p:nvPr/>
        </p:nvCxnSpPr>
        <p:spPr>
          <a:xfrm rot="10800000">
            <a:off x="6436375" y="1034000"/>
            <a:ext cx="67800" cy="15354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9" name="Google Shape;619;p15"/>
          <p:cNvCxnSpPr>
            <a:stCxn id="431" idx="0"/>
            <a:endCxn id="613" idx="2"/>
          </p:cNvCxnSpPr>
          <p:nvPr/>
        </p:nvCxnSpPr>
        <p:spPr>
          <a:xfrm flipH="1" rot="10800000">
            <a:off x="1165836" y="1034064"/>
            <a:ext cx="5270400" cy="20343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0" name="Google Shape;620;p15"/>
          <p:cNvCxnSpPr>
            <a:stCxn id="403" idx="2"/>
            <a:endCxn id="613" idx="0"/>
          </p:cNvCxnSpPr>
          <p:nvPr/>
        </p:nvCxnSpPr>
        <p:spPr>
          <a:xfrm>
            <a:off x="6080811" y="753332"/>
            <a:ext cx="3555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1" name="Google Shape;621;p15"/>
          <p:cNvCxnSpPr>
            <a:stCxn id="450" idx="0"/>
            <a:endCxn id="613" idx="2"/>
          </p:cNvCxnSpPr>
          <p:nvPr/>
        </p:nvCxnSpPr>
        <p:spPr>
          <a:xfrm rot="10800000">
            <a:off x="6436275" y="1034188"/>
            <a:ext cx="140700" cy="10059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2" name="Google Shape;622;p15"/>
          <p:cNvCxnSpPr>
            <a:stCxn id="463" idx="0"/>
            <a:endCxn id="613" idx="2"/>
          </p:cNvCxnSpPr>
          <p:nvPr/>
        </p:nvCxnSpPr>
        <p:spPr>
          <a:xfrm rot="10800000">
            <a:off x="6436125" y="1034038"/>
            <a:ext cx="843900" cy="9819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3" name="Google Shape;623;p15"/>
          <p:cNvCxnSpPr>
            <a:stCxn id="388" idx="2"/>
            <a:endCxn id="613" idx="0"/>
          </p:cNvCxnSpPr>
          <p:nvPr/>
        </p:nvCxnSpPr>
        <p:spPr>
          <a:xfrm>
            <a:off x="2384312" y="753318"/>
            <a:ext cx="40518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4" name="Google Shape;624;p15"/>
          <p:cNvCxnSpPr>
            <a:stCxn id="393" idx="2"/>
            <a:endCxn id="613" idx="0"/>
          </p:cNvCxnSpPr>
          <p:nvPr/>
        </p:nvCxnSpPr>
        <p:spPr>
          <a:xfrm>
            <a:off x="3616494" y="753288"/>
            <a:ext cx="2819700" cy="103200"/>
          </a:xfrm>
          <a:prstGeom prst="straightConnector1">
            <a:avLst/>
          </a:prstGeom>
          <a:noFill/>
          <a:ln cap="flat" cmpd="sng" w="11150">
            <a:solidFill>
              <a:srgbClr val="FF00FF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5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6"/>
          <p:cNvSpPr/>
          <p:nvPr/>
        </p:nvSpPr>
        <p:spPr>
          <a:xfrm>
            <a:off x="0" y="0"/>
            <a:ext cx="9121200" cy="275700"/>
          </a:xfrm>
          <a:prstGeom prst="rect">
            <a:avLst/>
          </a:prstGeom>
          <a:solidFill>
            <a:srgbClr val="0F2C5C"/>
          </a:solidFill>
          <a:ln cap="flat" cmpd="sng" w="7575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143550" y="0"/>
            <a:ext cx="885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서비스 간 API 호출 · 이벤트 · 데이터 흐름도  (DMZ망 / Private VPC망 구분)  ─  AS-IS(현재 상황)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41148" y="275706"/>
            <a:ext cx="9039000" cy="1719600"/>
          </a:xfrm>
          <a:prstGeom prst="rect">
            <a:avLst/>
          </a:prstGeom>
          <a:solidFill>
            <a:srgbClr val="E3F1EB"/>
          </a:solidFill>
          <a:ln cap="flat" cmpd="sng" w="1817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41148" y="1995323"/>
            <a:ext cx="9039000" cy="2935200"/>
          </a:xfrm>
          <a:prstGeom prst="rect">
            <a:avLst/>
          </a:prstGeom>
          <a:solidFill>
            <a:srgbClr val="FAF0EC"/>
          </a:solidFill>
          <a:ln cap="flat" cmpd="sng" w="181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41148" y="275706"/>
            <a:ext cx="562200" cy="1719600"/>
          </a:xfrm>
          <a:prstGeom prst="rect">
            <a:avLst/>
          </a:prstGeom>
          <a:solidFill>
            <a:srgbClr val="0A6A50"/>
          </a:solidFill>
          <a:ln cap="flat" cmpd="sng" w="7575">
            <a:solidFill>
              <a:srgbClr val="0A6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41148" y="275706"/>
            <a:ext cx="5622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192.168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41148" y="1995323"/>
            <a:ext cx="562200" cy="29352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41148" y="1995323"/>
            <a:ext cx="5622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200" lIns="20200" spcFirstLastPara="1" rIns="20200" wrap="square" tIns="20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172.20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.0.0/24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630936" y="371737"/>
            <a:ext cx="41148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DMZ — 인터넷 / 클라이언트 레이어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630938" y="1825300"/>
            <a:ext cx="6823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A50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0A6A50"/>
                </a:solidFill>
                <a:latin typeface="Calibri"/>
                <a:ea typeface="Calibri"/>
                <a:cs typeface="Calibri"/>
                <a:sym typeface="Calibri"/>
              </a:rPr>
              <a:t>DMZ VPC — 192.168.0.0/24  (외부 접근 가능, 클라이언트  / Kafka / MGMT)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4183388" y="3516602"/>
            <a:ext cx="419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Private VPC — 172.20.0.0/24  (내부 전용, Notification / Auth API / 서비스 API / DB / 배치)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630936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DDEEFF"/>
          </a:solidFill>
          <a:ln cap="flat" cmpd="sng" w="80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630936" y="485263"/>
            <a:ext cx="1042500" cy="162300"/>
          </a:xfrm>
          <a:prstGeom prst="rect">
            <a:avLst/>
          </a:prstGeom>
          <a:solidFill>
            <a:srgbClr val="1558A8"/>
          </a:solidFill>
          <a:ln cap="flat" cmpd="sng" w="75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630936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POS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630936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WinForms C#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1863090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DDEEFF"/>
          </a:solidFill>
          <a:ln cap="flat" cmpd="sng" w="80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1863090" y="485263"/>
            <a:ext cx="1042500" cy="162300"/>
          </a:xfrm>
          <a:prstGeom prst="rect">
            <a:avLst/>
          </a:prstGeom>
          <a:solidFill>
            <a:srgbClr val="1558A8"/>
          </a:solidFill>
          <a:ln cap="flat" cmpd="sng" w="75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1863090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J-Salon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1863090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Vue + Pinia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3095244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DDEEFF"/>
          </a:solidFill>
          <a:ln cap="flat" cmpd="sng" w="80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6"/>
          <p:cNvSpPr/>
          <p:nvPr/>
        </p:nvSpPr>
        <p:spPr>
          <a:xfrm>
            <a:off x="3095244" y="485263"/>
            <a:ext cx="1042500" cy="162300"/>
          </a:xfrm>
          <a:prstGeom prst="rect">
            <a:avLst/>
          </a:prstGeom>
          <a:solidFill>
            <a:srgbClr val="1558A8"/>
          </a:solidFill>
          <a:ln cap="flat" cmpd="sng" w="75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3095244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J-Works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6"/>
          <p:cNvSpPr/>
          <p:nvPr/>
        </p:nvSpPr>
        <p:spPr>
          <a:xfrm>
            <a:off x="3095244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Vue + Pinia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4327398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DDEEFF"/>
          </a:solidFill>
          <a:ln cap="flat" cmpd="sng" w="80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4327398" y="485263"/>
            <a:ext cx="1042500" cy="162300"/>
          </a:xfrm>
          <a:prstGeom prst="rect">
            <a:avLst/>
          </a:prstGeom>
          <a:solidFill>
            <a:srgbClr val="1558A8"/>
          </a:solidFill>
          <a:ln cap="flat" cmpd="sng" w="75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4327398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디자이너앱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4327398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5559552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DDEEFF"/>
          </a:solidFill>
          <a:ln cap="flat" cmpd="sng" w="80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6"/>
          <p:cNvSpPr/>
          <p:nvPr/>
        </p:nvSpPr>
        <p:spPr>
          <a:xfrm>
            <a:off x="5559552" y="485263"/>
            <a:ext cx="1042500" cy="162300"/>
          </a:xfrm>
          <a:prstGeom prst="rect">
            <a:avLst/>
          </a:prstGeom>
          <a:solidFill>
            <a:srgbClr val="1558A8"/>
          </a:solidFill>
          <a:ln cap="flat" cmpd="sng" w="7575">
            <a:solidFill>
              <a:srgbClr val="155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5559552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고객앱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5559552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8A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1558A8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6791706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FEF0C8"/>
          </a:solidFill>
          <a:ln cap="flat" cmpd="sng" w="807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6"/>
          <p:cNvSpPr/>
          <p:nvPr/>
        </p:nvSpPr>
        <p:spPr>
          <a:xfrm>
            <a:off x="6791706" y="485263"/>
            <a:ext cx="1042500" cy="162300"/>
          </a:xfrm>
          <a:prstGeom prst="rect">
            <a:avLst/>
          </a:prstGeom>
          <a:solidFill>
            <a:srgbClr val="A06010"/>
          </a:solidFill>
          <a:ln cap="flat" cmpd="sng" w="757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6791706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Homepage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6791706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Java/JSP ⚠️보안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8023860" y="485263"/>
            <a:ext cx="1042500" cy="372900"/>
          </a:xfrm>
          <a:prstGeom prst="roundRect">
            <a:avLst>
              <a:gd fmla="val 13043" name="adj"/>
            </a:avLst>
          </a:prstGeom>
          <a:solidFill>
            <a:srgbClr val="EBEBEB"/>
          </a:solidFill>
          <a:ln cap="flat" cmpd="sng" w="80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8023860" y="485263"/>
            <a:ext cx="1042500" cy="162300"/>
          </a:xfrm>
          <a:prstGeom prst="rect">
            <a:avLst/>
          </a:prstGeom>
          <a:solidFill>
            <a:srgbClr val="666666"/>
          </a:solidFill>
          <a:ln cap="flat" cmpd="sng" w="7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8023860" y="485263"/>
            <a:ext cx="1042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JUNO Academy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8023860" y="647442"/>
            <a:ext cx="10425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완전 독립 서비스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630936" y="2373339"/>
            <a:ext cx="27432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Auth / Core API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630936" y="2527409"/>
            <a:ext cx="15771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80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630936" y="2527409"/>
            <a:ext cx="1577100" cy="162300"/>
          </a:xfrm>
          <a:prstGeom prst="rect">
            <a:avLst/>
          </a:prstGeom>
          <a:solidFill>
            <a:srgbClr val="534AB7"/>
          </a:solidFill>
          <a:ln cap="flat" cmpd="sng" w="75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630936" y="2527409"/>
            <a:ext cx="1577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통합 Login-API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630936" y="2689589"/>
            <a:ext cx="15771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JWT 발급·검증 | Vault(JWT Key)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3785616" y="2527409"/>
            <a:ext cx="1371600" cy="454200"/>
          </a:xfrm>
          <a:prstGeom prst="roundRect">
            <a:avLst>
              <a:gd fmla="val 10714" name="adj"/>
            </a:avLst>
          </a:prstGeom>
          <a:solidFill>
            <a:srgbClr val="EEEDFE"/>
          </a:solidFill>
          <a:ln cap="flat" cmpd="sng" w="80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3785616" y="2527409"/>
            <a:ext cx="1371600" cy="162300"/>
          </a:xfrm>
          <a:prstGeom prst="rect">
            <a:avLst/>
          </a:prstGeom>
          <a:solidFill>
            <a:srgbClr val="534AB7"/>
          </a:solidFill>
          <a:ln cap="flat" cmpd="sng" w="757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3785616" y="2527409"/>
            <a:ext cx="1371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통합 고객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3785616" y="2689589"/>
            <a:ext cx="1371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고객 DB | Login-API 검증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6"/>
          <p:cNvSpPr/>
          <p:nvPr/>
        </p:nvSpPr>
        <p:spPr>
          <a:xfrm>
            <a:off x="7488936" y="2527409"/>
            <a:ext cx="1577100" cy="454200"/>
          </a:xfrm>
          <a:prstGeom prst="roundRect">
            <a:avLst>
              <a:gd fmla="val 10714" name="adj"/>
            </a:avLst>
          </a:prstGeom>
          <a:solidFill>
            <a:srgbClr val="EBEBEB"/>
          </a:solidFill>
          <a:ln cap="flat" cmpd="sng" w="80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7488936" y="2527409"/>
            <a:ext cx="1577100" cy="162300"/>
          </a:xfrm>
          <a:prstGeom prst="rect">
            <a:avLst/>
          </a:prstGeom>
          <a:solidFill>
            <a:srgbClr val="666666"/>
          </a:solidFill>
          <a:ln cap="flat" cmpd="sng" w="7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6"/>
          <p:cNvSpPr/>
          <p:nvPr/>
        </p:nvSpPr>
        <p:spPr>
          <a:xfrm>
            <a:off x="7488936" y="2527409"/>
            <a:ext cx="1577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Vault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7488936" y="2689589"/>
            <a:ext cx="15771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Secret 중앙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6"/>
          <p:cNvSpPr/>
          <p:nvPr/>
        </p:nvSpPr>
        <p:spPr>
          <a:xfrm>
            <a:off x="630938" y="2947359"/>
            <a:ext cx="3429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서비스 API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630936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6"/>
          <p:cNvSpPr/>
          <p:nvPr/>
        </p:nvSpPr>
        <p:spPr>
          <a:xfrm>
            <a:off x="630936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630936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630936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예약·오더·결제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1858518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1858518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1858518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1858518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고객 정보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3086100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3086100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3086100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3086100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인사·급여 관리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4313682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4313682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4313682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CheckIn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4313682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QR 체크인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5541264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5541264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5541264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Board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5541264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게시판 백엔드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6768846" y="3068364"/>
            <a:ext cx="1069800" cy="470400"/>
          </a:xfrm>
          <a:prstGeom prst="roundRect">
            <a:avLst>
              <a:gd fmla="val 10345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6768846" y="3068364"/>
            <a:ext cx="10698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6768846" y="3068364"/>
            <a:ext cx="1069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Report 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6768846" y="3230544"/>
            <a:ext cx="1069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OZ Report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6" name="Google Shape;706;p16"/>
          <p:cNvGrpSpPr/>
          <p:nvPr/>
        </p:nvGrpSpPr>
        <p:grpSpPr>
          <a:xfrm>
            <a:off x="7996428" y="906185"/>
            <a:ext cx="1069875" cy="470359"/>
            <a:chOff x="10661904" y="3460000"/>
            <a:chExt cx="1426500" cy="530400"/>
          </a:xfrm>
        </p:grpSpPr>
        <p:sp>
          <p:nvSpPr>
            <p:cNvPr id="707" name="Google Shape;707;p16"/>
            <p:cNvSpPr/>
            <p:nvPr/>
          </p:nvSpPr>
          <p:spPr>
            <a:xfrm>
              <a:off x="10661904" y="3460000"/>
              <a:ext cx="1426500" cy="530400"/>
            </a:xfrm>
            <a:prstGeom prst="roundRect">
              <a:avLst>
                <a:gd fmla="val 10345" name="adj"/>
              </a:avLst>
            </a:prstGeom>
            <a:solidFill>
              <a:srgbClr val="D5EFE6"/>
            </a:solidFill>
            <a:ln cap="flat" cmpd="sng" w="807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10661904" y="3460000"/>
              <a:ext cx="1426500" cy="183000"/>
            </a:xfrm>
            <a:prstGeom prst="rect">
              <a:avLst/>
            </a:prstGeom>
            <a:solidFill>
              <a:srgbClr val="0A6040"/>
            </a:solidFill>
            <a:ln cap="flat" cmpd="sng" w="7575">
              <a:solidFill>
                <a:srgbClr val="0A6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16"/>
          <p:cNvGrpSpPr/>
          <p:nvPr/>
        </p:nvGrpSpPr>
        <p:grpSpPr>
          <a:xfrm>
            <a:off x="7996428" y="924952"/>
            <a:ext cx="1069875" cy="470252"/>
            <a:chOff x="10661904" y="3460000"/>
            <a:chExt cx="1426500" cy="530280"/>
          </a:xfrm>
        </p:grpSpPr>
        <p:sp>
          <p:nvSpPr>
            <p:cNvPr id="710" name="Google Shape;710;p16"/>
            <p:cNvSpPr/>
            <p:nvPr/>
          </p:nvSpPr>
          <p:spPr>
            <a:xfrm>
              <a:off x="10661904" y="3460000"/>
              <a:ext cx="14265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alibri"/>
                <a:buNone/>
              </a:pPr>
              <a:r>
                <a:rPr b="1" i="0" lang="ko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BAT 배치서버</a:t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10661904" y="3642880"/>
              <a:ext cx="14265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6040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0A6040"/>
                  </a:solidFill>
                  <a:latin typeface="Calibri"/>
                  <a:ea typeface="Calibri"/>
                  <a:cs typeface="Calibri"/>
                  <a:sym typeface="Calibri"/>
                </a:rPr>
                <a:t>BAT-01 WEB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2" name="Google Shape;712;p16"/>
          <p:cNvSpPr/>
          <p:nvPr/>
        </p:nvSpPr>
        <p:spPr>
          <a:xfrm>
            <a:off x="7488936" y="2306189"/>
            <a:ext cx="1577100" cy="194700"/>
          </a:xfrm>
          <a:prstGeom prst="roundRect">
            <a:avLst>
              <a:gd fmla="val 25000" name="adj"/>
            </a:avLst>
          </a:prstGeom>
          <a:solidFill>
            <a:srgbClr val="D5EFE6"/>
          </a:solidFill>
          <a:ln cap="flat" cmpd="sng" w="80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7488936" y="2150754"/>
            <a:ext cx="1577100" cy="162300"/>
          </a:xfrm>
          <a:prstGeom prst="rect">
            <a:avLst/>
          </a:prstGeom>
          <a:solidFill>
            <a:srgbClr val="0A6040"/>
          </a:solidFill>
          <a:ln cap="flat" cmpd="sng" w="7575">
            <a:solidFill>
              <a:srgbClr val="0A6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7488992" y="2150699"/>
            <a:ext cx="1577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</a:t>
            </a:r>
            <a:r>
              <a:rPr b="1" lang="ko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Noti API_Server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7488938" y="2360002"/>
            <a:ext cx="1577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04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0A6040"/>
                </a:solidFill>
                <a:latin typeface="Calibri"/>
                <a:ea typeface="Calibri"/>
                <a:cs typeface="Calibri"/>
                <a:sym typeface="Calibri"/>
              </a:rPr>
              <a:t>Kafka Consumer → Push/SMS/카카오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2057400" y="931151"/>
            <a:ext cx="4938000" cy="324300"/>
          </a:xfrm>
          <a:prstGeom prst="roundRect">
            <a:avLst>
              <a:gd fmla="val 15000" name="adj"/>
            </a:avLst>
          </a:prstGeom>
          <a:solidFill>
            <a:srgbClr val="FEF0C8"/>
          </a:solidFill>
          <a:ln cap="flat" cmpd="sng" w="12125">
            <a:solidFill>
              <a:srgbClr val="A0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2057400" y="931151"/>
            <a:ext cx="49380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01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A06010"/>
                </a:solidFill>
                <a:latin typeface="Calibri"/>
                <a:ea typeface="Calibri"/>
                <a:cs typeface="Calibri"/>
                <a:sym typeface="Calibri"/>
              </a:rPr>
              <a:t>⚡  Kafka  —  예약 · 결제 · 체크인 이벤트 브로커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630936" y="1294743"/>
            <a:ext cx="41148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MGMT / 보안 관리 서버 (DMZ)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630936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630936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630936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630936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 SSD30GB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2334464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6"/>
          <p:cNvSpPr/>
          <p:nvPr/>
        </p:nvSpPr>
        <p:spPr>
          <a:xfrm>
            <a:off x="2334464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2334464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MOTR 서버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2334464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 HDD20GB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/>
          <p:nvPr/>
        </p:nvSpPr>
        <p:spPr>
          <a:xfrm>
            <a:off x="4037990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6"/>
          <p:cNvSpPr/>
          <p:nvPr/>
        </p:nvSpPr>
        <p:spPr>
          <a:xfrm>
            <a:off x="4037990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6"/>
          <p:cNvSpPr/>
          <p:nvPr/>
        </p:nvSpPr>
        <p:spPr>
          <a:xfrm>
            <a:off x="4037990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시스템 접근제어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(HIWARE)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4037990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1000GB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6"/>
          <p:cNvSpPr/>
          <p:nvPr/>
        </p:nvSpPr>
        <p:spPr>
          <a:xfrm>
            <a:off x="5741518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6"/>
          <p:cNvSpPr/>
          <p:nvPr/>
        </p:nvSpPr>
        <p:spPr>
          <a:xfrm>
            <a:off x="5741518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6"/>
          <p:cNvSpPr/>
          <p:nvPr/>
        </p:nvSpPr>
        <p:spPr>
          <a:xfrm>
            <a:off x="5741518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백업관리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(Acronis)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5741518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20/100GB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6"/>
          <p:cNvSpPr/>
          <p:nvPr/>
        </p:nvSpPr>
        <p:spPr>
          <a:xfrm>
            <a:off x="7445045" y="1424487"/>
            <a:ext cx="1621200" cy="438000"/>
          </a:xfrm>
          <a:prstGeom prst="roundRect">
            <a:avLst>
              <a:gd fmla="val 11111" name="adj"/>
            </a:avLst>
          </a:prstGeom>
          <a:solidFill>
            <a:srgbClr val="EAEAF8"/>
          </a:solidFill>
          <a:ln cap="flat" cmpd="sng" w="80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6"/>
          <p:cNvSpPr/>
          <p:nvPr/>
        </p:nvSpPr>
        <p:spPr>
          <a:xfrm>
            <a:off x="7445045" y="1424487"/>
            <a:ext cx="16212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7445045" y="1424487"/>
            <a:ext cx="1621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DB암호화관리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(Petra)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6"/>
          <p:cNvSpPr/>
          <p:nvPr/>
        </p:nvSpPr>
        <p:spPr>
          <a:xfrm>
            <a:off x="7445045" y="1586667"/>
            <a:ext cx="1621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8vC/16MEM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88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444488"/>
                </a:solidFill>
                <a:latin typeface="Calibri"/>
                <a:ea typeface="Calibri"/>
                <a:cs typeface="Calibri"/>
                <a:sym typeface="Calibri"/>
              </a:rPr>
              <a:t>HDD 600GB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/>
          <p:nvPr/>
        </p:nvSpPr>
        <p:spPr>
          <a:xfrm>
            <a:off x="5911596" y="1846155"/>
            <a:ext cx="3086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─── DMZ / Private VPC 경계 ───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/>
          <p:nvPr/>
        </p:nvSpPr>
        <p:spPr>
          <a:xfrm>
            <a:off x="630936" y="3512591"/>
            <a:ext cx="34290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600"/>
              <a:buFont typeface="Calibri"/>
              <a:buNone/>
            </a:pPr>
            <a:r>
              <a:rPr b="1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DB 레이어 (Private VPC)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630936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630936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630936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630936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M/S HA구성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2772592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6"/>
          <p:cNvSpPr/>
          <p:nvPr/>
        </p:nvSpPr>
        <p:spPr>
          <a:xfrm>
            <a:off x="2772592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2772592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HRM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2772592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2vC/4MEM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3843419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3843419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3843419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3843419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2vC/8MEM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6"/>
          <p:cNvSpPr/>
          <p:nvPr/>
        </p:nvSpPr>
        <p:spPr>
          <a:xfrm>
            <a:off x="4914247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6"/>
          <p:cNvSpPr/>
          <p:nvPr/>
        </p:nvSpPr>
        <p:spPr>
          <a:xfrm>
            <a:off x="4914247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4914247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4914247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분석/DW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5985074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6"/>
          <p:cNvSpPr/>
          <p:nvPr/>
        </p:nvSpPr>
        <p:spPr>
          <a:xfrm>
            <a:off x="5985074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5985074" y="3653352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고객앱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5985074" y="381915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7055902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7055902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7055902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통합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6"/>
          <p:cNvSpPr/>
          <p:nvPr/>
        </p:nvSpPr>
        <p:spPr>
          <a:xfrm>
            <a:off x="7055902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통합고객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8126730" y="3662527"/>
            <a:ext cx="939600" cy="5190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6"/>
          <p:cNvSpPr/>
          <p:nvPr/>
        </p:nvSpPr>
        <p:spPr>
          <a:xfrm>
            <a:off x="8126730" y="366252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6"/>
          <p:cNvSpPr/>
          <p:nvPr/>
        </p:nvSpPr>
        <p:spPr>
          <a:xfrm>
            <a:off x="8126730" y="3662527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6"/>
          <p:cNvSpPr/>
          <p:nvPr/>
        </p:nvSpPr>
        <p:spPr>
          <a:xfrm>
            <a:off x="8126730" y="3824707"/>
            <a:ext cx="93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게시판 전용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630938" y="4233148"/>
            <a:ext cx="4800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데이터 / 배치 레이어 (Private VPC)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630936" y="4363107"/>
            <a:ext cx="18519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630936" y="4363107"/>
            <a:ext cx="18519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630936" y="4363107"/>
            <a:ext cx="1851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⏱️ AirFlow - Batch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6"/>
          <p:cNvSpPr/>
          <p:nvPr/>
        </p:nvSpPr>
        <p:spPr>
          <a:xfrm>
            <a:off x="630936" y="4525287"/>
            <a:ext cx="18519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자정 배치 | J-Salon/J-Works DB R/W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6"/>
          <p:cNvSpPr/>
          <p:nvPr/>
        </p:nvSpPr>
        <p:spPr>
          <a:xfrm>
            <a:off x="2585466" y="4363107"/>
            <a:ext cx="17145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6"/>
          <p:cNvSpPr/>
          <p:nvPr/>
        </p:nvSpPr>
        <p:spPr>
          <a:xfrm>
            <a:off x="2585466" y="4363107"/>
            <a:ext cx="17145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6"/>
          <p:cNvSpPr/>
          <p:nvPr/>
        </p:nvSpPr>
        <p:spPr>
          <a:xfrm>
            <a:off x="2585466" y="4363107"/>
            <a:ext cx="1714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AirFlow - ETL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6"/>
          <p:cNvSpPr/>
          <p:nvPr/>
        </p:nvSpPr>
        <p:spPr>
          <a:xfrm>
            <a:off x="2585466" y="4525287"/>
            <a:ext cx="1714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POS/J-Salon DB → 분석 DB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6"/>
          <p:cNvSpPr/>
          <p:nvPr/>
        </p:nvSpPr>
        <p:spPr>
          <a:xfrm>
            <a:off x="4402836" y="4363107"/>
            <a:ext cx="1440300" cy="405300"/>
          </a:xfrm>
          <a:prstGeom prst="roundRect">
            <a:avLst>
              <a:gd fmla="val 12000" name="adj"/>
            </a:avLst>
          </a:prstGeom>
          <a:solidFill>
            <a:srgbClr val="E0EED5"/>
          </a:solidFill>
          <a:ln cap="flat" cmpd="sng" w="80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6"/>
          <p:cNvSpPr/>
          <p:nvPr/>
        </p:nvSpPr>
        <p:spPr>
          <a:xfrm>
            <a:off x="4402836" y="4363107"/>
            <a:ext cx="1440300" cy="162300"/>
          </a:xfrm>
          <a:prstGeom prst="rect">
            <a:avLst/>
          </a:prstGeom>
          <a:solidFill>
            <a:srgbClr val="2D6010"/>
          </a:solidFill>
          <a:ln cap="flat" cmpd="sng" w="7575">
            <a:solidFill>
              <a:srgbClr val="2D6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4402836" y="4363107"/>
            <a:ext cx="14403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Jenkins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4402836" y="4525287"/>
            <a:ext cx="1440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010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2D6010"/>
                </a:solidFill>
                <a:latin typeface="Calibri"/>
                <a:ea typeface="Calibri"/>
                <a:cs typeface="Calibri"/>
                <a:sym typeface="Calibri"/>
              </a:rPr>
              <a:t>CI/CD | Vault AppRole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41148" y="4930666"/>
            <a:ext cx="9039000" cy="210600"/>
          </a:xfrm>
          <a:prstGeom prst="rect">
            <a:avLst/>
          </a:prstGeom>
          <a:solidFill>
            <a:srgbClr val="FFFFFF"/>
          </a:solidFill>
          <a:ln cap="flat" cmpd="sng" w="757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356616" y="5003646"/>
            <a:ext cx="82500" cy="97500"/>
          </a:xfrm>
          <a:prstGeom prst="ellipse">
            <a:avLst/>
          </a:prstGeom>
          <a:solidFill>
            <a:srgbClr val="1D6FD8"/>
          </a:solidFill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459486" y="4971210"/>
            <a:ext cx="1062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 API 호출 (동기)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1796796" y="5003646"/>
            <a:ext cx="82500" cy="97500"/>
          </a:xfrm>
          <a:prstGeom prst="ellipse">
            <a:avLst/>
          </a:prstGeom>
          <a:solidFill>
            <a:srgbClr val="C07010"/>
          </a:solidFill>
          <a:ln cap="flat" cmpd="sng" w="10100">
            <a:solidFill>
              <a:srgbClr val="C07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1899666" y="4971210"/>
            <a:ext cx="1268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Kafka 이벤트 (비동기)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3442716" y="5003646"/>
            <a:ext cx="82500" cy="97500"/>
          </a:xfrm>
          <a:prstGeom prst="ellipse">
            <a:avLst/>
          </a:prstGeom>
          <a:solidFill>
            <a:srgbClr val="0A7040"/>
          </a:solidFill>
          <a:ln cap="flat" cmpd="sng" w="10100">
            <a:solidFill>
              <a:srgbClr val="0A7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3545586" y="4971210"/>
            <a:ext cx="960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 직접 접근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4780026" y="5003646"/>
            <a:ext cx="82500" cy="97500"/>
          </a:xfrm>
          <a:prstGeom prst="ellipse">
            <a:avLst/>
          </a:prstGeom>
          <a:solidFill>
            <a:srgbClr val="7733CC"/>
          </a:solidFill>
          <a:ln cap="flat" cmpd="sng" w="10100">
            <a:solidFill>
              <a:srgbClr val="77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4882896" y="4971210"/>
            <a:ext cx="89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JWT 검증 흐름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6048756" y="5003646"/>
            <a:ext cx="82500" cy="97500"/>
          </a:xfrm>
          <a:prstGeom prst="ellipse">
            <a:avLst/>
          </a:prstGeom>
          <a:solidFill>
            <a:srgbClr val="777777"/>
          </a:solidFill>
          <a:ln cap="flat" cmpd="sng" w="101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6151626" y="4971210"/>
            <a:ext cx="960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Vault Secret 연동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7386066" y="5003646"/>
            <a:ext cx="82500" cy="97500"/>
          </a:xfrm>
          <a:prstGeom prst="ellipse">
            <a:avLst/>
          </a:prstGeom>
          <a:solidFill>
            <a:srgbClr val="CC1111"/>
          </a:solidFill>
          <a:ln cap="flat" cmpd="sng" w="10100">
            <a:solidFill>
              <a:srgbClr val="CC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7488936" y="4971210"/>
            <a:ext cx="925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00"/>
              <a:buFont typeface="Calibri"/>
              <a:buNone/>
            </a:pPr>
            <a:r>
              <a:rPr b="0" i="0" lang="ko" sz="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⚠️ 보안이슈 경로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5" name="Google Shape;795;p16"/>
          <p:cNvCxnSpPr>
            <a:endCxn id="671" idx="0"/>
          </p:cNvCxnSpPr>
          <p:nvPr/>
        </p:nvCxnSpPr>
        <p:spPr>
          <a:xfrm>
            <a:off x="1151886" y="858209"/>
            <a:ext cx="267600" cy="16692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6" name="Google Shape;796;p16"/>
          <p:cNvCxnSpPr/>
          <p:nvPr/>
        </p:nvCxnSpPr>
        <p:spPr>
          <a:xfrm>
            <a:off x="1152144" y="858276"/>
            <a:ext cx="3374100" cy="72900"/>
          </a:xfrm>
          <a:prstGeom prst="straightConnector1">
            <a:avLst/>
          </a:prstGeom>
          <a:noFill/>
          <a:ln cap="flat" cmpd="sng" w="2020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797" name="Google Shape;797;p16"/>
          <p:cNvCxnSpPr>
            <a:endCxn id="671" idx="0"/>
          </p:cNvCxnSpPr>
          <p:nvPr/>
        </p:nvCxnSpPr>
        <p:spPr>
          <a:xfrm flipH="1">
            <a:off x="1419486" y="858209"/>
            <a:ext cx="964800" cy="16692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8" name="Google Shape;798;p16"/>
          <p:cNvCxnSpPr>
            <a:endCxn id="675" idx="0"/>
          </p:cNvCxnSpPr>
          <p:nvPr/>
        </p:nvCxnSpPr>
        <p:spPr>
          <a:xfrm>
            <a:off x="2384316" y="858209"/>
            <a:ext cx="2087100" cy="16692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9" name="Google Shape;799;p16"/>
          <p:cNvCxnSpPr/>
          <p:nvPr/>
        </p:nvCxnSpPr>
        <p:spPr>
          <a:xfrm>
            <a:off x="2384298" y="858276"/>
            <a:ext cx="36918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0" name="Google Shape;800;p16"/>
          <p:cNvCxnSpPr>
            <a:endCxn id="671" idx="0"/>
          </p:cNvCxnSpPr>
          <p:nvPr/>
        </p:nvCxnSpPr>
        <p:spPr>
          <a:xfrm flipH="1">
            <a:off x="1419486" y="858209"/>
            <a:ext cx="2196900" cy="16692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1" name="Google Shape;801;p16"/>
          <p:cNvCxnSpPr/>
          <p:nvPr/>
        </p:nvCxnSpPr>
        <p:spPr>
          <a:xfrm>
            <a:off x="3616452" y="858276"/>
            <a:ext cx="24597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2" name="Google Shape;802;p16"/>
          <p:cNvCxnSpPr>
            <a:endCxn id="671" idx="0"/>
          </p:cNvCxnSpPr>
          <p:nvPr/>
        </p:nvCxnSpPr>
        <p:spPr>
          <a:xfrm flipH="1">
            <a:off x="1419486" y="858209"/>
            <a:ext cx="3429000" cy="16692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3" name="Google Shape;803;p16"/>
          <p:cNvCxnSpPr/>
          <p:nvPr/>
        </p:nvCxnSpPr>
        <p:spPr>
          <a:xfrm flipH="1">
            <a:off x="1165806" y="858276"/>
            <a:ext cx="36828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4" name="Google Shape;804;p16"/>
          <p:cNvCxnSpPr/>
          <p:nvPr/>
        </p:nvCxnSpPr>
        <p:spPr>
          <a:xfrm>
            <a:off x="4848606" y="858276"/>
            <a:ext cx="12276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5" name="Google Shape;805;p16"/>
          <p:cNvCxnSpPr>
            <a:endCxn id="671" idx="0"/>
          </p:cNvCxnSpPr>
          <p:nvPr/>
        </p:nvCxnSpPr>
        <p:spPr>
          <a:xfrm flipH="1">
            <a:off x="1419486" y="858209"/>
            <a:ext cx="4661100" cy="16692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6" name="Google Shape;806;p16"/>
          <p:cNvCxnSpPr>
            <a:endCxn id="675" idx="0"/>
          </p:cNvCxnSpPr>
          <p:nvPr/>
        </p:nvCxnSpPr>
        <p:spPr>
          <a:xfrm flipH="1">
            <a:off x="4471416" y="858209"/>
            <a:ext cx="1609500" cy="16692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7" name="Google Shape;807;p16"/>
          <p:cNvCxnSpPr/>
          <p:nvPr/>
        </p:nvCxnSpPr>
        <p:spPr>
          <a:xfrm flipH="1">
            <a:off x="4848660" y="858276"/>
            <a:ext cx="1232100" cy="2210100"/>
          </a:xfrm>
          <a:prstGeom prst="straightConnector1">
            <a:avLst/>
          </a:prstGeom>
          <a:noFill/>
          <a:ln cap="flat" cmpd="sng" w="1115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8" name="Google Shape;808;p16"/>
          <p:cNvCxnSpPr/>
          <p:nvPr/>
        </p:nvCxnSpPr>
        <p:spPr>
          <a:xfrm flipH="1">
            <a:off x="6076260" y="858276"/>
            <a:ext cx="45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9" name="Google Shape;809;p16"/>
          <p:cNvCxnSpPr>
            <a:endCxn id="675" idx="0"/>
          </p:cNvCxnSpPr>
          <p:nvPr/>
        </p:nvCxnSpPr>
        <p:spPr>
          <a:xfrm flipH="1">
            <a:off x="4471416" y="858209"/>
            <a:ext cx="2841600" cy="1669200"/>
          </a:xfrm>
          <a:prstGeom prst="straightConnector1">
            <a:avLst/>
          </a:prstGeom>
          <a:noFill/>
          <a:ln cap="flat" cmpd="sng" w="18175">
            <a:solidFill>
              <a:srgbClr val="CC111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0" name="Google Shape;810;p16"/>
          <p:cNvCxnSpPr/>
          <p:nvPr/>
        </p:nvCxnSpPr>
        <p:spPr>
          <a:xfrm flipH="1">
            <a:off x="6076014" y="858276"/>
            <a:ext cx="1236900" cy="2210100"/>
          </a:xfrm>
          <a:prstGeom prst="straightConnector1">
            <a:avLst/>
          </a:prstGeom>
          <a:noFill/>
          <a:ln cap="flat" cmpd="sng" w="10100">
            <a:solidFill>
              <a:srgbClr val="1D6F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1" name="Google Shape;811;p16"/>
          <p:cNvCxnSpPr/>
          <p:nvPr/>
        </p:nvCxnSpPr>
        <p:spPr>
          <a:xfrm>
            <a:off x="1419606" y="2913881"/>
            <a:ext cx="6858000" cy="3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812" name="Google Shape;812;p16"/>
          <p:cNvCxnSpPr/>
          <p:nvPr/>
        </p:nvCxnSpPr>
        <p:spPr>
          <a:xfrm flipH="1">
            <a:off x="1419516" y="2913881"/>
            <a:ext cx="3051900" cy="300"/>
          </a:xfrm>
          <a:prstGeom prst="straightConnector1">
            <a:avLst/>
          </a:prstGeom>
          <a:noFill/>
          <a:ln cap="flat" cmpd="sng" w="10100">
            <a:solidFill>
              <a:srgbClr val="7733CC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813" name="Google Shape;813;p16"/>
          <p:cNvCxnSpPr/>
          <p:nvPr/>
        </p:nvCxnSpPr>
        <p:spPr>
          <a:xfrm flipH="1">
            <a:off x="1100460" y="3538685"/>
            <a:ext cx="654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4" name="Google Shape;814;p16"/>
          <p:cNvCxnSpPr/>
          <p:nvPr/>
        </p:nvCxnSpPr>
        <p:spPr>
          <a:xfrm flipH="1">
            <a:off x="3242424" y="3538685"/>
            <a:ext cx="3786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5" name="Google Shape;815;p16"/>
          <p:cNvCxnSpPr/>
          <p:nvPr/>
        </p:nvCxnSpPr>
        <p:spPr>
          <a:xfrm>
            <a:off x="6076188" y="3538685"/>
            <a:ext cx="25203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6" name="Google Shape;816;p16"/>
          <p:cNvCxnSpPr>
            <a:stCxn id="676" idx="2"/>
          </p:cNvCxnSpPr>
          <p:nvPr/>
        </p:nvCxnSpPr>
        <p:spPr>
          <a:xfrm>
            <a:off x="4471416" y="2981489"/>
            <a:ext cx="3054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7" name="Google Shape;817;p16"/>
          <p:cNvCxnSpPr>
            <a:stCxn id="696" idx="0"/>
          </p:cNvCxnSpPr>
          <p:nvPr/>
        </p:nvCxnSpPr>
        <p:spPr>
          <a:xfrm rot="10800000">
            <a:off x="4526082" y="931164"/>
            <a:ext cx="322500" cy="2137200"/>
          </a:xfrm>
          <a:prstGeom prst="straightConnector1">
            <a:avLst/>
          </a:prstGeom>
          <a:noFill/>
          <a:ln cap="flat" cmpd="sng" w="14150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8" name="Google Shape;818;p16"/>
          <p:cNvCxnSpPr/>
          <p:nvPr/>
        </p:nvCxnSpPr>
        <p:spPr>
          <a:xfrm flipH="1">
            <a:off x="1100706" y="3538685"/>
            <a:ext cx="3747900" cy="123600"/>
          </a:xfrm>
          <a:prstGeom prst="straightConnector1">
            <a:avLst/>
          </a:prstGeom>
          <a:noFill/>
          <a:ln cap="flat" cmpd="sng" w="11150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9" name="Google Shape;819;p16"/>
          <p:cNvCxnSpPr>
            <a:endCxn id="714" idx="0"/>
          </p:cNvCxnSpPr>
          <p:nvPr/>
        </p:nvCxnSpPr>
        <p:spPr>
          <a:xfrm>
            <a:off x="4526042" y="1255499"/>
            <a:ext cx="3751500" cy="895200"/>
          </a:xfrm>
          <a:prstGeom prst="straightConnector1">
            <a:avLst/>
          </a:prstGeom>
          <a:noFill/>
          <a:ln cap="flat" cmpd="sng" w="13125">
            <a:solidFill>
              <a:srgbClr val="C0701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20" name="Google Shape;820;p16"/>
          <p:cNvCxnSpPr/>
          <p:nvPr/>
        </p:nvCxnSpPr>
        <p:spPr>
          <a:xfrm flipH="1" rot="10800000">
            <a:off x="1556766" y="4181307"/>
            <a:ext cx="16857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21" name="Google Shape;821;p16"/>
          <p:cNvCxnSpPr/>
          <p:nvPr/>
        </p:nvCxnSpPr>
        <p:spPr>
          <a:xfrm rot="10800000">
            <a:off x="1100616" y="4181307"/>
            <a:ext cx="23421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22" name="Google Shape;822;p16"/>
          <p:cNvCxnSpPr/>
          <p:nvPr/>
        </p:nvCxnSpPr>
        <p:spPr>
          <a:xfrm flipH="1" rot="10800000">
            <a:off x="3442716" y="4181307"/>
            <a:ext cx="1941300" cy="1818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23" name="Google Shape;823;p16"/>
          <p:cNvCxnSpPr/>
          <p:nvPr/>
        </p:nvCxnSpPr>
        <p:spPr>
          <a:xfrm flipH="1" rot="10800000">
            <a:off x="5122926" y="2914107"/>
            <a:ext cx="3154800" cy="1449000"/>
          </a:xfrm>
          <a:prstGeom prst="straightConnector1">
            <a:avLst/>
          </a:prstGeom>
          <a:noFill/>
          <a:ln cap="flat" cmpd="sng" w="10100">
            <a:solidFill>
              <a:srgbClr val="777777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824" name="Google Shape;824;p16"/>
          <p:cNvCxnSpPr/>
          <p:nvPr/>
        </p:nvCxnSpPr>
        <p:spPr>
          <a:xfrm>
            <a:off x="9601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1D6F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16"/>
          <p:cNvCxnSpPr/>
          <p:nvPr/>
        </p:nvCxnSpPr>
        <p:spPr>
          <a:xfrm>
            <a:off x="153619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C0701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6" name="Google Shape;826;p16"/>
          <p:cNvCxnSpPr/>
          <p:nvPr/>
        </p:nvCxnSpPr>
        <p:spPr>
          <a:xfrm>
            <a:off x="318211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0A704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7" name="Google Shape;827;p16"/>
          <p:cNvCxnSpPr/>
          <p:nvPr/>
        </p:nvCxnSpPr>
        <p:spPr>
          <a:xfrm>
            <a:off x="451942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7733C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28" name="Google Shape;828;p16"/>
          <p:cNvCxnSpPr/>
          <p:nvPr/>
        </p:nvCxnSpPr>
        <p:spPr>
          <a:xfrm>
            <a:off x="578815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77777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29" name="Google Shape;829;p16"/>
          <p:cNvCxnSpPr/>
          <p:nvPr/>
        </p:nvCxnSpPr>
        <p:spPr>
          <a:xfrm>
            <a:off x="7125462" y="4971210"/>
            <a:ext cx="233100" cy="8100"/>
          </a:xfrm>
          <a:prstGeom prst="straightConnector1">
            <a:avLst/>
          </a:prstGeom>
          <a:noFill/>
          <a:ln cap="flat" cmpd="sng" w="22225">
            <a:solidFill>
              <a:srgbClr val="CC111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0" name="Google Shape;830;p16"/>
          <p:cNvCxnSpPr/>
          <p:nvPr/>
        </p:nvCxnSpPr>
        <p:spPr>
          <a:xfrm>
            <a:off x="41101" y="1973501"/>
            <a:ext cx="9039000" cy="8100"/>
          </a:xfrm>
          <a:prstGeom prst="straightConnector1">
            <a:avLst/>
          </a:prstGeom>
          <a:noFill/>
          <a:ln cap="flat" cmpd="sng" w="22225">
            <a:solidFill>
              <a:srgbClr val="B83A1E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1" name="Google Shape;831;p16"/>
          <p:cNvCxnSpPr>
            <a:stCxn id="701" idx="2"/>
          </p:cNvCxnSpPr>
          <p:nvPr/>
        </p:nvCxnSpPr>
        <p:spPr>
          <a:xfrm>
            <a:off x="6076164" y="3538644"/>
            <a:ext cx="25203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2" name="Google Shape;832;p16"/>
          <p:cNvCxnSpPr>
            <a:stCxn id="701" idx="2"/>
          </p:cNvCxnSpPr>
          <p:nvPr/>
        </p:nvCxnSpPr>
        <p:spPr>
          <a:xfrm flipH="1">
            <a:off x="1100664" y="3538644"/>
            <a:ext cx="4975500" cy="123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3" name="Google Shape;833;p16"/>
          <p:cNvCxnSpPr>
            <a:stCxn id="676" idx="2"/>
          </p:cNvCxnSpPr>
          <p:nvPr/>
        </p:nvCxnSpPr>
        <p:spPr>
          <a:xfrm>
            <a:off x="4471416" y="2981489"/>
            <a:ext cx="30540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4" name="Google Shape;834;p16"/>
          <p:cNvCxnSpPr>
            <a:stCxn id="676" idx="2"/>
          </p:cNvCxnSpPr>
          <p:nvPr/>
        </p:nvCxnSpPr>
        <p:spPr>
          <a:xfrm flipH="1">
            <a:off x="1100616" y="2981489"/>
            <a:ext cx="3370800" cy="681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5" name="Google Shape;835;p16"/>
          <p:cNvCxnSpPr/>
          <p:nvPr/>
        </p:nvCxnSpPr>
        <p:spPr>
          <a:xfrm>
            <a:off x="1422450" y="2972943"/>
            <a:ext cx="1820100" cy="6897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6" name="Google Shape;836;p16"/>
          <p:cNvCxnSpPr/>
          <p:nvPr/>
        </p:nvCxnSpPr>
        <p:spPr>
          <a:xfrm>
            <a:off x="1426800" y="2983230"/>
            <a:ext cx="2886300" cy="6792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7" name="Google Shape;837;p16"/>
          <p:cNvCxnSpPr/>
          <p:nvPr/>
        </p:nvCxnSpPr>
        <p:spPr>
          <a:xfrm flipH="1">
            <a:off x="1100700" y="3518154"/>
            <a:ext cx="2527200" cy="1446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8" name="Google Shape;838;p16"/>
          <p:cNvCxnSpPr/>
          <p:nvPr/>
        </p:nvCxnSpPr>
        <p:spPr>
          <a:xfrm flipH="1">
            <a:off x="3242400" y="3528441"/>
            <a:ext cx="376800" cy="1341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39" name="Google Shape;839;p16"/>
          <p:cNvCxnSpPr/>
          <p:nvPr/>
        </p:nvCxnSpPr>
        <p:spPr>
          <a:xfrm>
            <a:off x="3627900" y="3513011"/>
            <a:ext cx="685500" cy="1494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40" name="Google Shape;840;p16"/>
          <p:cNvCxnSpPr>
            <a:stCxn id="740" idx="0"/>
          </p:cNvCxnSpPr>
          <p:nvPr/>
        </p:nvCxnSpPr>
        <p:spPr>
          <a:xfrm flipH="1">
            <a:off x="1100736" y="3512591"/>
            <a:ext cx="1244700" cy="150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41" name="Google Shape;841;p16"/>
          <p:cNvCxnSpPr>
            <a:stCxn id="740" idx="0"/>
          </p:cNvCxnSpPr>
          <p:nvPr/>
        </p:nvCxnSpPr>
        <p:spPr>
          <a:xfrm>
            <a:off x="2345436" y="3512591"/>
            <a:ext cx="897000" cy="150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42" name="Google Shape;842;p16"/>
          <p:cNvCxnSpPr>
            <a:stCxn id="740" idx="0"/>
          </p:cNvCxnSpPr>
          <p:nvPr/>
        </p:nvCxnSpPr>
        <p:spPr>
          <a:xfrm>
            <a:off x="2345436" y="3512591"/>
            <a:ext cx="1968000" cy="150000"/>
          </a:xfrm>
          <a:prstGeom prst="straightConnector1">
            <a:avLst/>
          </a:prstGeom>
          <a:noFill/>
          <a:ln cap="flat" cmpd="sng" w="12125">
            <a:solidFill>
              <a:srgbClr val="0A7040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843" name="Google Shape;843;p16"/>
          <p:cNvGrpSpPr/>
          <p:nvPr/>
        </p:nvGrpSpPr>
        <p:grpSpPr>
          <a:xfrm>
            <a:off x="6830272" y="2512434"/>
            <a:ext cx="614769" cy="324295"/>
            <a:chOff x="630936" y="1421450"/>
            <a:chExt cx="1621225" cy="440917"/>
          </a:xfrm>
        </p:grpSpPr>
        <p:sp>
          <p:nvSpPr>
            <p:cNvPr id="844" name="Google Shape;844;p16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807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6" name="Google Shape;846;p16"/>
          <p:cNvSpPr/>
          <p:nvPr/>
        </p:nvSpPr>
        <p:spPr>
          <a:xfrm>
            <a:off x="6830300" y="2484938"/>
            <a:ext cx="6147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6830313" y="2485163"/>
            <a:ext cx="6147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(준오랑)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" name="Google Shape;848;p16"/>
          <p:cNvGrpSpPr/>
          <p:nvPr/>
        </p:nvGrpSpPr>
        <p:grpSpPr>
          <a:xfrm>
            <a:off x="6171623" y="2490212"/>
            <a:ext cx="614769" cy="356349"/>
            <a:chOff x="630936" y="1421450"/>
            <a:chExt cx="1621225" cy="440917"/>
          </a:xfrm>
        </p:grpSpPr>
        <p:sp>
          <p:nvSpPr>
            <p:cNvPr id="849" name="Google Shape;849;p16"/>
            <p:cNvSpPr/>
            <p:nvPr/>
          </p:nvSpPr>
          <p:spPr>
            <a:xfrm>
              <a:off x="630961" y="1421450"/>
              <a:ext cx="1621200" cy="438000"/>
            </a:xfrm>
            <a:prstGeom prst="roundRect">
              <a:avLst>
                <a:gd fmla="val 11111" name="adj"/>
              </a:avLst>
            </a:prstGeom>
            <a:solidFill>
              <a:srgbClr val="EAEAF8"/>
            </a:solidFill>
            <a:ln cap="flat" cmpd="sng" w="8075">
              <a:solidFill>
                <a:srgbClr val="444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750" lIns="72750" spcFirstLastPara="1" rIns="72750" wrap="square" tIns="7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630936" y="1586667"/>
              <a:ext cx="1621200" cy="2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88"/>
                </a:buClr>
                <a:buSzPts val="500"/>
                <a:buFont typeface="Calibri"/>
                <a:buNone/>
              </a:pPr>
              <a:r>
                <a:rPr b="0" i="0" lang="ko" sz="500" u="none" cap="none" strike="noStrike">
                  <a:solidFill>
                    <a:srgbClr val="444488"/>
                  </a:solidFill>
                  <a:latin typeface="Calibri"/>
                  <a:ea typeface="Calibri"/>
                  <a:cs typeface="Calibri"/>
                  <a:sym typeface="Calibri"/>
                </a:rPr>
                <a:t>8vC/16MEM SSD30GB</a:t>
              </a:r>
              <a:endPara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1" name="Google Shape;851;p16"/>
          <p:cNvSpPr/>
          <p:nvPr/>
        </p:nvSpPr>
        <p:spPr>
          <a:xfrm>
            <a:off x="6171700" y="2484938"/>
            <a:ext cx="614700" cy="162300"/>
          </a:xfrm>
          <a:prstGeom prst="rect">
            <a:avLst/>
          </a:prstGeom>
          <a:solidFill>
            <a:srgbClr val="444488"/>
          </a:solidFill>
          <a:ln cap="flat" cmpd="sng" w="7575">
            <a:solidFill>
              <a:srgbClr val="44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6"/>
          <p:cNvSpPr/>
          <p:nvPr/>
        </p:nvSpPr>
        <p:spPr>
          <a:xfrm>
            <a:off x="6171700" y="2488550"/>
            <a:ext cx="6147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고객앱</a:t>
            </a: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6"/>
          <p:cNvSpPr/>
          <p:nvPr/>
        </p:nvSpPr>
        <p:spPr>
          <a:xfrm>
            <a:off x="5985075" y="4296600"/>
            <a:ext cx="939600" cy="291900"/>
          </a:xfrm>
          <a:prstGeom prst="roundRect">
            <a:avLst>
              <a:gd fmla="val 9375" name="adj"/>
            </a:avLst>
          </a:prstGeom>
          <a:solidFill>
            <a:srgbClr val="FAE9E5"/>
          </a:solidFill>
          <a:ln cap="flat" cmpd="sng" w="80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6"/>
          <p:cNvSpPr/>
          <p:nvPr/>
        </p:nvSpPr>
        <p:spPr>
          <a:xfrm>
            <a:off x="5985088" y="4402612"/>
            <a:ext cx="9396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1E"/>
              </a:buClr>
              <a:buSzPts val="500"/>
              <a:buFont typeface="Calibri"/>
              <a:buNone/>
            </a:pPr>
            <a:r>
              <a:rPr b="0" i="0" lang="ko" sz="500" u="none" cap="none" strike="noStrike">
                <a:solidFill>
                  <a:srgbClr val="B83A1E"/>
                </a:solidFill>
                <a:latin typeface="Calibri"/>
                <a:ea typeface="Calibri"/>
                <a:cs typeface="Calibri"/>
                <a:sym typeface="Calibri"/>
              </a:rPr>
              <a:t>4vC/8MEM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5985099" y="4233377"/>
            <a:ext cx="939600" cy="162300"/>
          </a:xfrm>
          <a:prstGeom prst="rect">
            <a:avLst/>
          </a:prstGeom>
          <a:solidFill>
            <a:srgbClr val="B83A1E"/>
          </a:solidFill>
          <a:ln cap="flat" cmpd="sng" w="7575">
            <a:solidFill>
              <a:srgbClr val="B8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50" lIns="72750" spcFirstLastPara="1" rIns="72750" wrap="square" tIns="72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6"/>
          <p:cNvSpPr/>
          <p:nvPr/>
        </p:nvSpPr>
        <p:spPr>
          <a:xfrm>
            <a:off x="5985074" y="4238314"/>
            <a:ext cx="9396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lang="ko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준오랑</a:t>
            </a:r>
            <a:r>
              <a:rPr b="1" i="0" lang="k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